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284C7"/>
                </a:solidFill>
                <a:latin typeface="Arial"/>
              </a:defRPr>
            </a:pPr>
            <a:r>
              <a:t>A PRESENTATION ON VOCATIONAL TRAINING &amp; PROPOSED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t>Mobile Remote Photoplethysmography to</a:t>
            </a:r>
            <a:br/>
            <a:r>
              <a:t>Cuffless Blood Pressure Estimation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247" y="2057400"/>
            <a:ext cx="5029200" cy="2540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>
                <a:solidFill>
                  <a:srgbClr val="475569"/>
                </a:solidFill>
                <a:latin typeface="Calibri"/>
              </a:defRPr>
            </a:pPr>
            <a:r>
              <a:t>Modern White Tech Design System &amp; Modular Python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60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Presented By: Vedang Bhatt   •   Anubhav Shrivastav   •   Adarsh</a:t>
            </a:r>
          </a:p>
          <a:p>
            <a:pPr algn="ctr">
              <a:defRPr sz="1150" b="1">
                <a:solidFill>
                  <a:srgbClr val="0284C7"/>
                </a:solidFill>
                <a:latin typeface="Calibri"/>
              </a:defRPr>
            </a:pPr>
            <a:r>
              <a:t>Department of Computer Science &amp; Engineering  •  Bhilai Institute of Technology, Raipur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3328416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910328"/>
            <a:ext cx="2999232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10.12 / 5.91 </a:t>
            </a:r>
            <a:r>
              <a:rPr sz="1100">
                <a:solidFill>
                  <a:srgbClr val="64748B"/>
                </a:solidFill>
              </a:rPr>
              <a:t>mmHg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Subject Accuracy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MCD-Iriun Clinical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8576" y="4800600"/>
            <a:ext cx="3328416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4910328"/>
            <a:ext cx="2999232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D97706"/>
                </a:solidFill>
                <a:latin typeface="Arial"/>
              </a:defRPr>
            </a:pPr>
            <a:r>
              <a:t>120 </a:t>
            </a:r>
            <a:r>
              <a:rPr sz="1100">
                <a:solidFill>
                  <a:srgbClr val="64748B"/>
                </a:solidFill>
              </a:rPr>
              <a:t>ms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Edge Latency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Offline single-shot TFLite inference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4800600"/>
            <a:ext cx="3328416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4910328"/>
            <a:ext cx="2999232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100% </a:t>
            </a:r>
            <a:r>
              <a:rPr sz="1100">
                <a:solidFill>
                  <a:srgbClr val="64748B"/>
                </a:solidFill>
              </a:rPr>
              <a:t>On-Device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Privacy Native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Zero cloud dependency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468880"/>
            <a:ext cx="164592" cy="20116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t>SECTION BREAK</a:t>
            </a:r>
          </a:p>
          <a:p>
            <a:pPr>
              <a:spcAft>
                <a:spcPts val="800"/>
              </a:spcAft>
              <a:defRPr sz="3400" b="1">
                <a:solidFill>
                  <a:srgbClr val="0F172A"/>
                </a:solidFill>
                <a:latin typeface="Arial"/>
              </a:defRPr>
            </a:pPr>
            <a:r>
              <a:t>Stage 1: Optical Ingestion &amp; Physiological DSP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Eliminating sensor gain jitter and isolating microvascular blood volume pulse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OPTICAL ENGINEERING</a:t>
            </a:r>
          </a:p>
          <a:p>
            <a:pPr algn="l">
              <a:defRPr sz="2200" b="1">
                <a:solidFill>
                  <a:srgbClr val="0F172A"/>
                </a:solidFill>
                <a:latin typeface="Arial"/>
              </a:defRPr>
            </a:pPr>
            <a:r>
              <a:t>Photometric Convergence &amp; Facial ROI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2540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77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Camera2 AE/AWB Finite State Machine: </a:t>
            </a:r>
            <a:r>
              <a:rPr b="0">
                <a:solidFill>
                  <a:srgbClr val="1E293B"/>
                </a:solidFill>
                <a:latin typeface="Calibri"/>
              </a:rPr>
              <a:t>Pulsatile hemoglobin absorption is only 0.1%–1.5% of skin reflectance. A 3-phase state machine (Convergence, Hold, Lock) locks ISO and exposure time before acquisition.</a:t>
            </a:r>
          </a:p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468-Point MediaPipe Face Mesh: </a:t>
            </a:r>
            <a:r>
              <a:rPr b="0">
                <a:solidFill>
                  <a:srgbClr val="1E293B"/>
                </a:solidFill>
                <a:latin typeface="Calibri"/>
              </a:rPr>
              <a:t>Dynamically tracks the anatomical forehead region, providing high capillary perfusion and eliminating motion artifacts.</a:t>
            </a:r>
          </a:p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PCHIP Resampling (125 Hz): </a:t>
            </a:r>
            <a:r>
              <a:rPr b="0">
                <a:solidFill>
                  <a:srgbClr val="1E293B"/>
                </a:solidFill>
                <a:latin typeface="Calibri"/>
              </a:rPr>
              <a:t>Standardizes variable 28–38 ms camera timestamps onto a strict 125 Hz uniform grid without Runge overshoot.</a:t>
            </a:r>
          </a:p>
          <a:p>
            <a:pPr>
              <a:spcAft>
                <a:spcPts val="10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Specular Noise Rejection: </a:t>
            </a:r>
            <a:r>
              <a:rPr b="0">
                <a:solidFill>
                  <a:srgbClr val="1E293B"/>
                </a:solidFill>
                <a:latin typeface="Calibri"/>
              </a:rPr>
              <a:t>Plane-Orthogonal-to-Skin (POS) projection algebraically cancels specular white reflections, achieving 8.9 dB SNR.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SYSTEM ARCHITECTURE</a:t>
            </a:r>
          </a:p>
          <a:p>
            <a:pPr algn="l">
              <a:defRPr sz="2200" b="1">
                <a:solidFill>
                  <a:srgbClr val="0F172A"/>
                </a:solidFill>
                <a:latin typeface="Arial"/>
              </a:defRPr>
            </a:pPr>
            <a:r>
              <a:t>End-to-End Deep Pipeline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2540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6634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Photometric Lock: </a:t>
            </a:r>
            <a:r>
              <a:rPr b="0">
                <a:solidFill>
                  <a:srgbClr val="1E293B"/>
                </a:solidFill>
                <a:latin typeface="Calibri"/>
              </a:rPr>
              <a:t>Hardware locks exposure &amp; ISO gain to eliminate sensor jitter.</a:t>
            </a:r>
          </a:p>
          <a:p>
            <a:pPr>
              <a:spcAft>
                <a:spcPts val="7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Forehead ROI: </a:t>
            </a:r>
            <a:r>
              <a:rPr b="0">
                <a:solidFill>
                  <a:srgbClr val="1E293B"/>
                </a:solidFill>
                <a:latin typeface="Calibri"/>
              </a:rPr>
              <a:t>Extracts spatial RGB mean across tracked forehead capillary beds.</a:t>
            </a:r>
          </a:p>
          <a:p>
            <a:pPr>
              <a:spcAft>
                <a:spcPts val="7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Dual-Stream DSP: </a:t>
            </a:r>
            <a:r>
              <a:rPr b="0">
                <a:solidFill>
                  <a:srgbClr val="1E293B"/>
                </a:solidFill>
                <a:latin typeface="Calibri"/>
              </a:rPr>
              <a:t>Butterworth bandpass [0.75, 3.0 Hz] + BayesShrink sym8 Wavelet denoising.</a:t>
            </a:r>
          </a:p>
          <a:p>
            <a:pPr>
              <a:spcAft>
                <a:spcPts val="7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Neural Inference: </a:t>
            </a:r>
            <a:r>
              <a:rPr b="0">
                <a:solidFill>
                  <a:srgbClr val="1E293B"/>
                </a:solidFill>
                <a:latin typeface="Calibri"/>
              </a:rPr>
              <a:t>MODEL-06-SepHead predicts continuous SBP/DBP in 120 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5788152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613296"/>
            <a:ext cx="5513832" cy="22257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5897880"/>
            <a:ext cx="5605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Figure 1: End-to-End Acquisition &amp; Inference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EXPERIMENTAL RESULTS</a:t>
            </a:r>
          </a:p>
          <a:p>
            <a:pPr algn="l">
              <a:defRPr sz="2200" b="1">
                <a:solidFill>
                  <a:srgbClr val="0F172A"/>
                </a:solidFill>
                <a:latin typeface="Arial"/>
              </a:defRPr>
            </a:pPr>
            <a:r>
              <a:t>Empirical Model Progression &amp;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2540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486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Generation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SBP MAE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DBP MAE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Subject SBP/DBP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MODEL-01 (Demo MLP)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16.82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9.41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15.90 / 8.85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MODEL-03 (1D-ResNet)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14.20 mmHg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8.12 mmHg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13.10 / 7.40 mmHg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MODEL-05 (+BiGRU+MHSA)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12.65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7.20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11.45 / 6.55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284C7"/>
                          </a:solidFill>
                          <a:latin typeface="Arial"/>
                        </a:defRPr>
                      </a:pPr>
                      <a:r>
                        <a:t>MODEL-06-SepHead (Ours)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11.58 mmHg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6.70 mmHg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10.12 / 5.91 mmHg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19672" y="1463040"/>
            <a:ext cx="49377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02552" y="16459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Key Validated Metrics</a:t>
            </a:r>
          </a:p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• Subject-Level Accuracy: </a:t>
            </a:r>
            <a:r>
              <a:rPr b="0">
                <a:solidFill>
                  <a:srgbClr val="1E293B"/>
                </a:solidFill>
                <a:latin typeface="Calibri"/>
              </a:rPr>
              <a:t>10.12 mmHg SBP | 5.91 mmHg DBP MAE on MCD-Iriun dataset.</a:t>
            </a:r>
          </a:p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• Progression Delta: </a:t>
            </a:r>
            <a:r>
              <a:rPr b="0">
                <a:solidFill>
                  <a:srgbClr val="1E293B"/>
                </a:solidFill>
                <a:latin typeface="Calibri"/>
              </a:rPr>
              <a:t>6.70 mmHg SBP MAE improvement over baseline.</a:t>
            </a:r>
          </a:p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• Extractor Benchmarks: </a:t>
            </a:r>
            <a:r>
              <a:rPr b="0">
                <a:solidFill>
                  <a:srgbClr val="1E293B"/>
                </a:solidFill>
                <a:latin typeface="Calibri"/>
              </a:rPr>
              <a:t>POS achieves 8.9 dB SNR; TS-CAN achieves 10.4 dB SNR.</a:t>
            </a:r>
          </a:p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• Mobile Runtime: </a:t>
            </a:r>
            <a:r>
              <a:rPr b="0">
                <a:solidFill>
                  <a:srgbClr val="1E293B"/>
                </a:solidFill>
                <a:latin typeface="Calibri"/>
              </a:rPr>
              <a:t>120 ms batch inference on mobile CPU with zero frame drops.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