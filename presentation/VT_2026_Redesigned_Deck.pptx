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234440" cy="1234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114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D4ED8"/>
                </a:solidFill>
                <a:latin typeface="Arial"/>
              </a:defRPr>
            </a:pPr>
            <a:r>
              <a:t>A PRESENTATION ON VOCATIONAL TRAINING &amp; PROPOSED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Arial"/>
              </a:defRPr>
            </a:pPr>
            <a:r>
              <a:t>Mobile Remote Photoplethysmography to</a:t>
            </a:r>
            <a:br/>
            <a:r>
              <a:t>Cuffless Blood Pressure Estimation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809847" y="2057400"/>
            <a:ext cx="4572000" cy="254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475569"/>
                </a:solidFill>
                <a:latin typeface="Calibri"/>
              </a:defRPr>
            </a:pPr>
            <a:r>
              <a:t>Vocational Training on 'AI with Python' undergone at IIIT Naya Raipur (01/07/2026 to 10/08/2026)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97480"/>
            <a:ext cx="10362895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999713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E293B"/>
                </a:solidFill>
                <a:latin typeface="Arial"/>
              </a:defRPr>
            </a:pPr>
            <a:r>
              <a:t>Presented By:   Vedang Bhatt (4th Sem)   •   Anubhav Shrivastav (4th Sem)   •   Adarsh (4th Sem)</a:t>
            </a:r>
          </a:p>
          <a:p>
            <a:pPr algn="ctr">
              <a:spcAft>
                <a:spcPts val="400"/>
              </a:spcAft>
              <a:defRPr sz="1150" b="1">
                <a:solidFill>
                  <a:srgbClr val="D97706"/>
                </a:solidFill>
                <a:latin typeface="Arial"/>
              </a:defRPr>
            </a:pPr>
            <a:r>
              <a:t>Mentors:   VT Mentor: Mr. Om Singh (IIIT-NR)   •   College Mentor: Prof. Aparna Pandey (BIT Raipur)</a:t>
            </a:r>
          </a:p>
          <a:p>
            <a:pPr algn="ctr">
              <a:defRPr sz="1150" b="1">
                <a:solidFill>
                  <a:srgbClr val="1D4ED8"/>
                </a:solidFill>
                <a:latin typeface="Calibri"/>
              </a:defRPr>
            </a:pPr>
            <a:r>
              <a:t>Department of Computer Science &amp; Engineering, Bhilai Institute of Technology, Raipur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754880"/>
            <a:ext cx="3328416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754880"/>
            <a:ext cx="73152" cy="16002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864608"/>
            <a:ext cx="3072384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1D4ED8"/>
                </a:solidFill>
                <a:latin typeface="Arial"/>
              </a:defRPr>
            </a:pPr>
            <a:r>
              <a:t>AI WITH PYTHON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IIIT-NR Vocational Training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Comprehensive 6-week program covering 45 progressive topics from data preprocessing to agentic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4754880"/>
            <a:ext cx="3328416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475488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4864608"/>
            <a:ext cx="3072384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APPLIED DSP &amp; DL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Signal Filtering to Neural Regressors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Savitzky-Golay polynomial smoothing combined with 1D-CNN, BiGRU &amp; Self-Attention sequence networks.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4754880"/>
            <a:ext cx="3328416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36992" y="4754880"/>
            <a:ext cx="73152" cy="160020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01584" y="4864608"/>
            <a:ext cx="3072384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CAPSTONE PROPOSAL</a:t>
            </a:r>
          </a:p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Contactless Cardiovascular Screening</a:t>
            </a:r>
          </a:p>
          <a:p>
            <a:pPr>
              <a:defRPr sz="950">
                <a:solidFill>
                  <a:srgbClr val="475569"/>
                </a:solidFill>
                <a:latin typeface="Calibri"/>
              </a:defRPr>
            </a:pPr>
            <a:r>
              <a:t>Smartphone camera rPPG pipeline for non-invasive, privacy-native continuous blood pressure monitoring.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Arial"/>
              </a:defRPr>
            </a:pPr>
            <a:r>
              <a:t>VOCATIONAL TRAINING OVERVIEW @ IIIT-NR</a:t>
            </a:r>
          </a:p>
          <a:p>
            <a:pPr algn="l">
              <a:defRPr sz="2100" b="1">
                <a:solidFill>
                  <a:srgbClr val="0F172A"/>
                </a:solidFill>
                <a:latin typeface="Arial"/>
              </a:defRPr>
            </a:pPr>
            <a:r>
              <a:t>Slide 2: Introduction about the training undergone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905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47288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3447288" cy="7315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73352"/>
            <a:ext cx="3044952" cy="4562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1D4ED8"/>
                </a:solidFill>
                <a:latin typeface="Arial"/>
              </a:defRPr>
            </a:pPr>
            <a:r>
              <a:t>01 • INSTITUTIONAL EXPOSURE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Academic Training at IIIT-NR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Host Institution: </a:t>
            </a:r>
            <a:r>
              <a:rPr sz="950">
                <a:solidFill>
                  <a:srgbClr val="475569"/>
                </a:solidFill>
                <a:latin typeface="Calibri"/>
              </a:rPr>
              <a:t>International Institute of Information Technology, Naya Raipur (IIIT-NR).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Course &amp; Duration: </a:t>
            </a:r>
            <a:r>
              <a:rPr sz="950">
                <a:solidFill>
                  <a:srgbClr val="475569"/>
                </a:solidFill>
                <a:latin typeface="Calibri"/>
              </a:rPr>
              <a:t>'AI with Python' intensive training from 01/07/2026 to 10/08/2026.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Academic Standing: </a:t>
            </a:r>
            <a:r>
              <a:rPr sz="950">
                <a:solidFill>
                  <a:srgbClr val="475569"/>
                </a:solidFill>
                <a:latin typeface="Calibri"/>
              </a:rPr>
              <a:t>Attended during 4th Semester (B. Tech. Computer Science &amp; Engineering).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Core Motivation: </a:t>
            </a:r>
            <a:r>
              <a:rPr sz="950">
                <a:solidFill>
                  <a:srgbClr val="475569"/>
                </a:solidFill>
                <a:latin typeface="Calibri"/>
              </a:rPr>
              <a:t>Transitioning from classroom theory to practical, hands-on computational AI workflows under expert mentorship.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508760"/>
            <a:ext cx="3447288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61688" y="1508760"/>
            <a:ext cx="3447288" cy="7315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1673352"/>
            <a:ext cx="3044952" cy="4562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D97706"/>
                </a:solidFill>
                <a:latin typeface="Arial"/>
              </a:defRPr>
            </a:pPr>
            <a:r>
              <a:t>02 • PROGRESSIVE CURRICULUM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End-to-End Technical Journey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Scientific Foundations: </a:t>
            </a:r>
            <a:r>
              <a:rPr sz="950">
                <a:solidFill>
                  <a:srgbClr val="475569"/>
                </a:solidFill>
                <a:latin typeface="Calibri"/>
              </a:rPr>
              <a:t>Vectorized computing with NumPy, tabular wrangling with Pandas, and plotting with Matplotlib.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Machine Learning Rigor: </a:t>
            </a:r>
            <a:r>
              <a:rPr sz="950">
                <a:solidFill>
                  <a:srgbClr val="475569"/>
                </a:solidFill>
                <a:latin typeface="Calibri"/>
              </a:rPr>
              <a:t>Supervised/Unsupervised models, bias-variance tradeoffs, and K-Fold cross-validation.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Deep Learning: </a:t>
            </a:r>
            <a:r>
              <a:rPr sz="950">
                <a:solidFill>
                  <a:srgbClr val="475569"/>
                </a:solidFill>
                <a:latin typeface="Calibri"/>
              </a:rPr>
              <a:t>TensorFlow computation graphs, CNN spatial convolutions, and RNN/LSTM sequential modeling.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Signal Conditioning: </a:t>
            </a:r>
            <a:r>
              <a:rPr sz="950">
                <a:solidFill>
                  <a:srgbClr val="475569"/>
                </a:solidFill>
                <a:latin typeface="Calibri"/>
              </a:rPr>
              <a:t>Digital filtering with Savitzky-Golay for noise suppression without peak deformation.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508760"/>
            <a:ext cx="3447288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1856" y="1508760"/>
            <a:ext cx="3447288" cy="73152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1673352"/>
            <a:ext cx="3044952" cy="4562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03 • APPLIED PROBLEM SOLVING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Modern AI &amp; Project Bridge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Emerging Paradigms: </a:t>
            </a:r>
            <a:r>
              <a:rPr sz="950">
                <a:solidFill>
                  <a:srgbClr val="475569"/>
                </a:solidFill>
                <a:latin typeface="Calibri"/>
              </a:rPr>
              <a:t>NLP with NLTK, Word2Vec, GloVe, Contextual Embeddings, and Transformer Encoders.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Modern Orchestration: </a:t>
            </a:r>
            <a:r>
              <a:rPr sz="950">
                <a:solidFill>
                  <a:srgbClr val="475569"/>
                </a:solidFill>
                <a:latin typeface="Calibri"/>
              </a:rPr>
              <a:t>RAG architectures, open-model fine-tuning, LangChain, and Agentic AI tools / MCP.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Project Formulation: </a:t>
            </a:r>
            <a:r>
              <a:rPr sz="950">
                <a:solidFill>
                  <a:srgbClr val="475569"/>
                </a:solidFill>
                <a:latin typeface="Calibri"/>
              </a:rPr>
              <a:t>Applying Python scientific libraries and signal filtering to real-world biomedical pulse estimation.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Ethical Focus: </a:t>
            </a:r>
            <a:r>
              <a:rPr sz="950">
                <a:solidFill>
                  <a:srgbClr val="475569"/>
                </a:solidFill>
                <a:latin typeface="Calibri"/>
              </a:rPr>
              <a:t>Understanding data privacy, edge execution, and honest clinical limitations.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Arial"/>
              </a:defRPr>
            </a:pPr>
            <a:r>
              <a:t>CORE PEDAGOGICAL GOALS @ IIIT-NR</a:t>
            </a:r>
          </a:p>
          <a:p>
            <a:pPr algn="l">
              <a:defRPr sz="2100" b="1">
                <a:solidFill>
                  <a:srgbClr val="0F172A"/>
                </a:solidFill>
                <a:latin typeface="Arial"/>
              </a:defRPr>
            </a:pPr>
            <a:r>
              <a:t>Slide 3: Training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905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36776"/>
            <a:ext cx="594360" cy="585216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00200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Python &amp; Scientific Data Foundations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Master vectorized matrix operations with NumPy, tabular data manipulation with Pandas, and feature visualization with Matplotlib.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78024"/>
            <a:ext cx="10728655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606040"/>
            <a:ext cx="594360" cy="58521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69464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Machine Learning &amp; Generalization Rigor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Understand supervised/unsupervised paradigms (linear, polynomial, logistic), bias-variance dynamics, L1/L2 regularization, and K-Fold cross-validation.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47288"/>
            <a:ext cx="10728655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575304"/>
            <a:ext cx="594360" cy="585216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538728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Deep Learning &amp; Sequential Architectures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Build computational graphs in TensorFlow—mastering activations (Sigmoid, ReLU, SoftMax), backpropagation, CNNs, and recurrent models (RNN, LSTM, Self-Attention).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16552"/>
            <a:ext cx="10728655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4544568"/>
            <a:ext cx="594360" cy="585216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07992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Digital Signal Conditioning &amp; Mathematics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Implement Savitzky-Golay digital polynomial filters for smoothing continuous waveforms without peak distortion; explore vector cosine similarity.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85816"/>
            <a:ext cx="10728655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5513832"/>
            <a:ext cx="594360" cy="585216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477256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Natural Language Processing &amp; Agentic AI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Gain introductory exposure to Word2Vec, GloVe, Transformer encoders, RAG architecture, LangChain orchestration, and Agentic AI tools / MCP.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Arial"/>
              </a:defRPr>
            </a:pPr>
            <a:r>
              <a:t>COMPREHENSIVE 45-TOPIC SYLLABUS @ IIIT-NR</a:t>
            </a:r>
          </a:p>
          <a:p>
            <a:pPr algn="l">
              <a:defRPr sz="2100" b="1">
                <a:solidFill>
                  <a:srgbClr val="0F172A"/>
                </a:solidFill>
                <a:latin typeface="Arial"/>
              </a:defRPr>
            </a:pPr>
            <a:r>
              <a:t>Slide 4: Training Modules / Topics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905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2029968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1618488"/>
            <a:ext cx="1810512" cy="438912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MOD 1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Python &amp;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30552"/>
            <a:ext cx="1847088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Python basics &amp; syntax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NumPy library array ops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Pandas library wrangling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Matplotlib visualizations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Data preprocessing pipelines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Feature scaling &amp; normalization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508760"/>
            <a:ext cx="2029968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08376" y="1618488"/>
            <a:ext cx="1810512" cy="438912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MOD 2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2130552"/>
            <a:ext cx="1847088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Supervised &amp; Unsupervised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Semi-Supervised &amp; RL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Linear &amp; Polynomial reg.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Logistic regression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Underfitting / Overfitting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Regularisation (L1 / L2)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K-fold cross-validation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Metrics: Acc, Prec, Rec, 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508760"/>
            <a:ext cx="2029968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75504" y="1618488"/>
            <a:ext cx="1810512" cy="438912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MOD 3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Deep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7216" y="2130552"/>
            <a:ext cx="1847088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TensorFlow ecosystem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Computational graphs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Backpropagation algorithm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Activations: Sigmoid, ReLU, Tanh, SoftMax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Layers: Conv, Pool, Dense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CNN architectures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DNN, RNN &amp; LSTM models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Self-Attention primitives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2904" y="1508760"/>
            <a:ext cx="2029968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42632" y="1618488"/>
            <a:ext cx="18105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MOD 4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Signal &amp; NLP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24344" y="2130552"/>
            <a:ext cx="1847088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Savitzky-Golay digital filter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NLP foundations &amp; NLTK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Word-to-vec representations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GloVe embeddings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Sequence encoders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Contextual embeddings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Vector Cosine Similarity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32" y="1508760"/>
            <a:ext cx="2029968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09760" y="1618488"/>
            <a:ext cx="1810512" cy="438912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MOD 5</a:t>
            </a:r>
          </a:p>
          <a:p>
            <a:pPr algn="ctr">
              <a:defRPr sz="950" b="1">
                <a:solidFill>
                  <a:srgbClr val="FFFFFF"/>
                </a:solidFill>
                <a:latin typeface="Arial"/>
              </a:defRPr>
            </a:pPr>
            <a:r>
              <a:t>GenAI &amp;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1472" y="2130552"/>
            <a:ext cx="1847088" cy="419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Transformer architectures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Tokens &amp; Tokenization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Large Language Models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Fine-tuning open models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RAG system architecture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LangChain orchestration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Agentic AI &amp; tool calling</a:t>
            </a:r>
          </a:p>
          <a:p>
            <a:pPr>
              <a:spcAft>
                <a:spcPts val="350"/>
              </a:spcAft>
              <a:defRPr sz="850">
                <a:solidFill>
                  <a:srgbClr val="1E293B"/>
                </a:solidFill>
                <a:latin typeface="Calibri"/>
              </a:defRPr>
            </a:pPr>
            <a:r>
              <a:t>• MCP (Model Context Protocol)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Arial"/>
              </a:defRPr>
            </a:pPr>
            <a:r>
              <a:t>PRACTICAL INSIGHTS GAINED UNDER MENTORSHIP</a:t>
            </a:r>
          </a:p>
          <a:p>
            <a:pPr algn="l">
              <a:defRPr sz="2100" b="1">
                <a:solidFill>
                  <a:srgbClr val="0F172A"/>
                </a:solidFill>
                <a:latin typeface="Arial"/>
              </a:defRPr>
            </a:pPr>
            <a:r>
              <a:t>Slide 5: Key Learnings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905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66944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" y="1673352"/>
            <a:ext cx="2377440" cy="274320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DATA PREPROCESSING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11680"/>
            <a:ext cx="48646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1. Real-World Signals Require Rigorous Preprocessing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Real-world data—whether tabular, audio, or physiological—carries severe baseline wander and sensor noise. Standardizing feature distributions, robust encoding, and using K-fold validation are indispensable before training any deep neural network.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508760"/>
            <a:ext cx="5266944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82512" y="1673352"/>
            <a:ext cx="2377440" cy="274320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SIGNAL FILTERING &amp; SMOOTHING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2011680"/>
            <a:ext cx="48646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2. Digital Smoothing Preserves Critical Peak Morphology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Learning digital signal smoothing techniques like the Savitzky-Golay filter demonstrated how local polynomial regression effectively removes high-frequency noise while preserving vital systolic/diastolic peak extrema without distorting waveform shape.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66944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4187952"/>
            <a:ext cx="2377440" cy="27432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NEURAL ARCHITECTURE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26280"/>
            <a:ext cx="48646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3. Synergy of Convolutional &amp; Recurrent / Attention Layers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Understanding CNNs and LSTMs in TensorFlow revealed that combining 1D convolutions (for localized morphological feature extraction) with recurrent and self-attention layers (for temporal cardiac periodicity) provides superior time-series representation.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4023360"/>
            <a:ext cx="5266944" cy="2331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82512" y="4187952"/>
            <a:ext cx="2377440" cy="2743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CAPSTONE FORMULATION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4526280"/>
            <a:ext cx="4864608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4. Applied Exploration: Optical Blood Pressure Estimation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Guided by our coursework in Python, signal processing, and deep neural models, we formulated our undergraduate capstone project: extracting transcutaneous optical pulse signals from smartphone cameras to explore cuffless blood pressure estimation.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Arial"/>
              </a:defRPr>
            </a:pPr>
            <a:r>
              <a:t>PROPOSED CAPSTONE PROJECT DEFINITION</a:t>
            </a:r>
          </a:p>
          <a:p>
            <a:pPr algn="l">
              <a:defRPr sz="2100" b="1">
                <a:solidFill>
                  <a:srgbClr val="0F172A"/>
                </a:solidFill>
                <a:latin typeface="Arial"/>
              </a:defRPr>
            </a:pPr>
            <a:r>
              <a:t>Slide 6: Proposed Project Title &amp; its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905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66944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809744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Arial"/>
              </a:defRPr>
            </a:pPr>
            <a:r>
              <a:t>PROPOSED CAPSTONE PROJECT TITLE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Arial"/>
              </a:defRPr>
            </a:pPr>
            <a:r>
              <a:t>Mobile Remote Photoplethysmography (rPPG) to Cuffless Blood Pressure Estimation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Global Clinical Burden: </a:t>
            </a:r>
            <a:r>
              <a:rPr sz="950">
                <a:solidFill>
                  <a:srgbClr val="475569"/>
                </a:solidFill>
                <a:latin typeface="Calibri"/>
              </a:rPr>
              <a:t>Hypertension affects over 1.28 billion adults globally and is a primary risk factor for stroke and cardiovascular disease.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Limitations of Arm Cuffs: </a:t>
            </a:r>
            <a:r>
              <a:rPr sz="950">
                <a:solidFill>
                  <a:srgbClr val="475569"/>
                </a:solidFill>
                <a:latin typeface="Calibri"/>
              </a:rPr>
              <a:t>Standard occlusive arm cuffs are intermittent, bulky, uncomfortable, and disrupt sleep during 24-hour ambulatory monitoring.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White-Coat Effect: </a:t>
            </a:r>
            <a:r>
              <a:rPr sz="950">
                <a:solidFill>
                  <a:srgbClr val="475569"/>
                </a:solidFill>
                <a:latin typeface="Calibri"/>
              </a:rPr>
              <a:t>In-clinic cuff inflation often induces transient acute stress, leading to false-positive hypertension readings.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1E293B"/>
                </a:solidFill>
                <a:latin typeface="Arial"/>
              </a:rPr>
              <a:t>• Proposed Contactless Solution: </a:t>
            </a:r>
            <a:r>
              <a:rPr sz="950">
                <a:solidFill>
                  <a:srgbClr val="475569"/>
                </a:solidFill>
                <a:latin typeface="Calibri"/>
              </a:rPr>
              <a:t>Using commodity smartphone RGB front cameras to detect microscopic facial color variations caused by blood volume pulses, estimating continuous blood pressure non-invasively.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508760"/>
            <a:ext cx="5266944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windkessel_dam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845300"/>
            <a:ext cx="4901184" cy="18531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64224" y="5897880"/>
            <a:ext cx="4901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Calibri"/>
              </a:defRPr>
            </a:pPr>
            <a:r>
              <a:t>Figure 1: Transcutaneous Optical Absorption &amp; Hemodynamic Waveform Dynamics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Arial"/>
              </a:defRPr>
            </a:pPr>
            <a:r>
              <a:t>SYSTEM SPECIFICATIONS &amp; ENGINEERING DELIVERABLES</a:t>
            </a:r>
          </a:p>
          <a:p>
            <a:pPr algn="l">
              <a:defRPr sz="2100" b="1">
                <a:solidFill>
                  <a:srgbClr val="0F172A"/>
                </a:solidFill>
                <a:latin typeface="Arial"/>
              </a:defRPr>
            </a:pPr>
            <a:r>
              <a:t>Slide 7: Objectives of the Proposed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905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636776"/>
            <a:ext cx="594360" cy="585216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600200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Optical Pulse Extraction via Smartphone Camera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Capture facial video at 30 FPS using locked camera exposure/white balance; isolate forehead skin microvascular ROIs using facial landmarks and POS chrominance projection.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78024"/>
            <a:ext cx="10728655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606040"/>
            <a:ext cx="594360" cy="585216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69464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Physiological Signal Denoising &amp; Conditioning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Standardize variable frame rates to a uniform 125 Hz grid via PCHIP interpolation and apply Savitzky-Golay polynomial smoothing + Butterworth bandpass (0.75–2.5 Hz).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47288"/>
            <a:ext cx="10728655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575304"/>
            <a:ext cx="594360" cy="585216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538728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Deep Neural Sequence Regression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Develop a hybrid deep architecture (1D-CNN feature extraction + BiGRU sequence modeling + Self-Attention) in TensorFlow with decoupled linear heads for SBP and DBP.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16552"/>
            <a:ext cx="10728655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4544568"/>
            <a:ext cx="594360" cy="585216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07992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Single-Point Personal Calibration Study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Investigate single-point baseline calibration to anchor individual vascular tone and arterial stiffness, overcoming physiological 'template collapse'.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85816"/>
            <a:ext cx="10728655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8680" y="5513832"/>
            <a:ext cx="594360" cy="585216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477256"/>
            <a:ext cx="9692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Arial"/>
              </a:defRPr>
            </a:pPr>
            <a:r>
              <a:t>Privacy-Preserving On-Device Mobile Execution</a:t>
            </a:r>
          </a:p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Optimize model inference for lightweight Android execution (using TFLite quantization), ensuring 100% on-device privacy with zero cloud transmission.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Arial"/>
              </a:defRPr>
            </a:pPr>
            <a:r>
              <a:t>END-TO-END 5-STAGE TECHNICAL PIPELINE</a:t>
            </a:r>
          </a:p>
          <a:p>
            <a:pPr algn="l">
              <a:defRPr sz="2100" b="1">
                <a:solidFill>
                  <a:srgbClr val="0F172A"/>
                </a:solidFill>
                <a:latin typeface="Arial"/>
              </a:defRPr>
            </a:pPr>
            <a:r>
              <a:t>Slide 9: Methodology / Approach of the Proposed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905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66944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80974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D4ED8"/>
                </a:solidFill>
                <a:latin typeface="Arial"/>
              </a:defRPr>
            </a:pPr>
            <a:r>
              <a:t>PIPELINE ARCHITECTURE STAGES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Stage 0 • Sensor Photometric Lock: </a:t>
            </a:r>
            <a:r>
              <a:rPr sz="900">
                <a:solidFill>
                  <a:srgbClr val="475569"/>
                </a:solidFill>
                <a:latin typeface="Calibri"/>
              </a:rPr>
              <a:t>Lock Camera2 auto-exposure, gain, and white balance to eliminate artificial sensor drift.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Stage 1 • Facial Landmark ROI Tracking: </a:t>
            </a:r>
            <a:r>
              <a:rPr sz="900">
                <a:solidFill>
                  <a:srgbClr val="475569"/>
                </a:solidFill>
                <a:latin typeface="Calibri"/>
              </a:rPr>
              <a:t>Track facial mesh landmarks to dynamically isolate perfused forehead skin pixels.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Stage 2 • Chrominance Subspace (POS): </a:t>
            </a:r>
            <a:r>
              <a:rPr sz="900">
                <a:solidFill>
                  <a:srgbClr val="475569"/>
                </a:solidFill>
                <a:latin typeface="Calibri"/>
              </a:rPr>
              <a:t>Project RGB channels orthogonal to skin-tone vectors to cancel specular reflections (8.9 dB SNR).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Stage 3 • Dual-Stream DSP Filtering: </a:t>
            </a:r>
            <a:r>
              <a:rPr sz="900">
                <a:solidFill>
                  <a:srgbClr val="475569"/>
                </a:solidFill>
                <a:latin typeface="Calibri"/>
              </a:rPr>
              <a:t>Resample to 125 Hz via PCHIP, apply Butterworth bandpass and Savitzky-Golay polynomial smoothing.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Stage 4 • Deep Sequence Regression: </a:t>
            </a:r>
            <a:r>
              <a:rPr sz="900">
                <a:solidFill>
                  <a:srgbClr val="475569"/>
                </a:solidFill>
                <a:latin typeface="Calibri"/>
              </a:rPr>
              <a:t>Feed conditioned pulse waves into 1D-ResNet + BiGRU + Attention for instantaneous SBP/DBP inference.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508760"/>
            <a:ext cx="5266944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782670"/>
            <a:ext cx="4901184" cy="197845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64224" y="5897880"/>
            <a:ext cx="4901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Calibri"/>
              </a:defRPr>
            </a:pPr>
            <a:r>
              <a:t>Figure 2: End-to-End Smartphone Ingestion &amp; Deep Sequence Inference Workflow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Arial"/>
              </a:defRPr>
            </a:pPr>
            <a:r>
              <a:t>NEURAL ARCHITECTURE &amp; LIVE DEMONSTRATION</a:t>
            </a:r>
          </a:p>
          <a:p>
            <a:pPr algn="l">
              <a:defRPr sz="2100" b="1">
                <a:solidFill>
                  <a:srgbClr val="0F172A"/>
                </a:solidFill>
                <a:latin typeface="Arial"/>
              </a:defRPr>
            </a:pPr>
            <a:r>
              <a:t>Slide 10: Proposed Project Work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905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66944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80974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D4ED8"/>
                </a:solidFill>
                <a:latin typeface="Arial"/>
              </a:defRPr>
            </a:pPr>
            <a:r>
              <a:t>NEURAL ARCHITECTURE (MODEL-06-SEPHEAD)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Input Tensor Representation: </a:t>
            </a:r>
            <a:r>
              <a:rPr sz="900">
                <a:solidFill>
                  <a:srgbClr val="475569"/>
                </a:solidFill>
                <a:latin typeface="Calibri"/>
              </a:rPr>
              <a:t>1 × 1250 standardized optical pulse samples (10-second window @ 125 Hz) + demographic metadata.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Multi-Scale 1D-ResNet Branches: </a:t>
            </a:r>
            <a:r>
              <a:rPr sz="900">
                <a:solidFill>
                  <a:srgbClr val="475569"/>
                </a:solidFill>
                <a:latin typeface="Calibri"/>
              </a:rPr>
              <a:t>Branch 1 (Kernel=5, Stride=2) extracts sharp systolic peaks; Branch 2 (Kernel=11, Dilated) extracts global waveform rhythms.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Temporal Sequence Modeling: </a:t>
            </a:r>
            <a:r>
              <a:rPr sz="900">
                <a:solidFill>
                  <a:srgbClr val="475569"/>
                </a:solidFill>
                <a:latin typeface="Calibri"/>
              </a:rPr>
              <a:t>2-layer Bidirectional GRU (hidden=64) captures cardiac phase periodicity across successive heartbeats.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Multi-Head Self-Attention: </a:t>
            </a:r>
            <a:r>
              <a:rPr sz="900">
                <a:solidFill>
                  <a:srgbClr val="475569"/>
                </a:solidFill>
                <a:latin typeface="Calibri"/>
              </a:rPr>
              <a:t>4-head temporal attention mechanism weights high-SNR cardiac cycles over motion-affected cycles.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Decoupled Regression Heads: </a:t>
            </a:r>
            <a:r>
              <a:rPr sz="900">
                <a:solidFill>
                  <a:srgbClr val="475569"/>
                </a:solidFill>
                <a:latin typeface="Calibri"/>
              </a:rPr>
              <a:t>Separate dense output heads predicting SBP (stroke volume) and DBP (peripheral resistance) independently.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508760"/>
            <a:ext cx="5266944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model06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504" y="1753019"/>
            <a:ext cx="4992624" cy="22546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81344" y="4572000"/>
            <a:ext cx="5266944" cy="18288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4681728"/>
            <a:ext cx="4901184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D4ED8"/>
                </a:solidFill>
                <a:latin typeface="Arial"/>
              </a:defRPr>
            </a:pPr>
            <a:r>
              <a:t>⚡ LIVE DEMONSTRATION TOUCHPOINT</a:t>
            </a:r>
          </a:p>
          <a:p>
            <a:pPr>
              <a:spcAft>
                <a:spcPts val="300"/>
              </a:spcAft>
              <a:defRPr sz="1200" b="1">
                <a:solidFill>
                  <a:srgbClr val="0F172A"/>
                </a:solidFill>
                <a:latin typeface="Arial"/>
              </a:defRPr>
            </a:pPr>
            <a:r>
              <a:t>📱 [Switching to Smartphone for Live Prototype Demo]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Demonstrating real-time Android Camera2 video ingestion, forehead ROI tracking, Savitzky-Golay signal smoothing, and live blood pressure inference on device.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Arial"/>
              </a:defRPr>
            </a:pPr>
            <a:r>
              <a:t>EXPERIMENTAL BENCHMARKS &amp; VALIDATION METRICS</a:t>
            </a:r>
          </a:p>
          <a:p>
            <a:pPr algn="l">
              <a:defRPr sz="2100" b="1">
                <a:solidFill>
                  <a:srgbClr val="0F172A"/>
                </a:solidFill>
                <a:latin typeface="Arial"/>
              </a:defRPr>
            </a:pPr>
            <a:r>
              <a:t>Slide 11: Expected Outcomes &amp; Results of the Proposed Project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905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66944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80974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D4ED8"/>
                </a:solidFill>
                <a:latin typeface="Arial"/>
              </a:defRPr>
            </a:pPr>
            <a:r>
              <a:t>MODEL PROGRESSION &amp; EXPLORATORY METRICS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Exploratory Subject MAE: </a:t>
            </a:r>
            <a:r>
              <a:rPr sz="900">
                <a:solidFill>
                  <a:srgbClr val="475569"/>
                </a:solidFill>
                <a:latin typeface="Calibri"/>
              </a:rPr>
              <a:t>10.12 mmHg (SBP) / 5.91 mmHg (DBP) on synchronized evaluation partitions.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Model Progression Gain: </a:t>
            </a:r>
            <a:r>
              <a:rPr sz="900">
                <a:solidFill>
                  <a:srgbClr val="475569"/>
                </a:solidFill>
                <a:latin typeface="Calibri"/>
              </a:rPr>
              <a:t>Reduced SBP error by 6.70 mmHg compared to naive linear baselines (MODEL-01: 16.82 → MODEL-06: 10.12 mmHg).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Signal Extraction SNR: </a:t>
            </a:r>
            <a:r>
              <a:rPr sz="900">
                <a:solidFill>
                  <a:srgbClr val="475569"/>
                </a:solidFill>
                <a:latin typeface="Calibri"/>
              </a:rPr>
              <a:t>POS chrominance projection achieves 8.9 dB SNR; TS-CAN spatial attention achieves 10.4 dB SNR.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Edge Mobile Latency: </a:t>
            </a:r>
            <a:r>
              <a:rPr sz="900">
                <a:solidFill>
                  <a:srgbClr val="475569"/>
                </a:solidFill>
                <a:latin typeface="Calibri"/>
              </a:rPr>
              <a:t>~120 ms offline batch inference on commodity Android CPU with zero dropped frames.</a:t>
            </a:r>
          </a:p>
          <a:p>
            <a:pPr>
              <a:spcAft>
                <a:spcPts val="7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Single-Point Calibration: </a:t>
            </a:r>
            <a:r>
              <a:rPr sz="900">
                <a:solidFill>
                  <a:srgbClr val="475569"/>
                </a:solidFill>
                <a:latin typeface="Calibri"/>
              </a:rPr>
              <a:t>Anchoring initial reference reading resolves arterial stiffness variance and prevents population mean collapse.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508760"/>
            <a:ext cx="5266944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extractor_benchmark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4" y="2839568"/>
            <a:ext cx="4901184" cy="18646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64224" y="5897880"/>
            <a:ext cx="4901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i="1">
                <a:solidFill>
                  <a:srgbClr val="64748B"/>
                </a:solidFill>
                <a:latin typeface="Calibri"/>
              </a:defRPr>
            </a:pPr>
            <a:r>
              <a:t>Figure 3: rPPG Extractor SNR &amp; Model Error (MAE) Benchmark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1D4ED8"/>
                </a:solidFill>
                <a:latin typeface="Arial"/>
              </a:defRPr>
            </a:pPr>
            <a:r>
              <a:t>SUMMARY &amp; CAPSTONE ROADMAP</a:t>
            </a:r>
          </a:p>
          <a:p>
            <a:pPr algn="l">
              <a:defRPr sz="2100" b="1">
                <a:solidFill>
                  <a:srgbClr val="0F172A"/>
                </a:solidFill>
                <a:latin typeface="Arial"/>
              </a:defRPr>
            </a:pPr>
            <a:r>
              <a:t>Slide 12: Conclusion remarks &amp; Future Scope of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0728655" cy="1905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66944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4809744" cy="3648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1D4ED8"/>
                </a:solidFill>
                <a:latin typeface="Arial"/>
              </a:defRPr>
            </a:pPr>
            <a:r>
              <a:t>CONCLUDING REMARKS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Comprehensive VT Foundation: </a:t>
            </a:r>
            <a:r>
              <a:rPr sz="900">
                <a:solidFill>
                  <a:srgbClr val="475569"/>
                </a:solidFill>
                <a:latin typeface="Calibri"/>
              </a:rPr>
              <a:t>The 6-week Vocational Training at IIIT-NR provided a strong theoretical and practical grounding across 45 AI with Python topics.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Applied Interdisciplinary Bridge: </a:t>
            </a:r>
            <a:r>
              <a:rPr sz="900">
                <a:solidFill>
                  <a:srgbClr val="475569"/>
                </a:solidFill>
                <a:latin typeface="Calibri"/>
              </a:rPr>
              <a:t>Applying digital signal filtering (Savitzky-Golay) and deep sequence models (CNN-BiGRU-Attention) to optical pulse waveforms proved highly effective.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Feasibility Confirmed: </a:t>
            </a:r>
            <a:r>
              <a:rPr sz="900">
                <a:solidFill>
                  <a:srgbClr val="475569"/>
                </a:solidFill>
                <a:latin typeface="Calibri"/>
              </a:rPr>
              <a:t>Exploratory results confirm that standard smartphone cameras can capture meaningful cardiovascular vitals without dedicated hardware.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Privacy-Preserving Paradigm: </a:t>
            </a:r>
            <a:r>
              <a:rPr sz="900">
                <a:solidFill>
                  <a:srgbClr val="475569"/>
                </a:solidFill>
                <a:latin typeface="Calibri"/>
              </a:rPr>
              <a:t>On-device edge inference ensures zero sensitive biometric video data leaves the user's mobile device.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508760"/>
            <a:ext cx="5266944" cy="397763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9944" y="1673352"/>
            <a:ext cx="4809744" cy="3648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D97706"/>
                </a:solidFill>
                <a:latin typeface="Arial"/>
              </a:defRPr>
            </a:pPr>
            <a:r>
              <a:t>FUTURE SCOPE &amp; CAPSTONE ROADMAP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Diverse Demographic Trials: </a:t>
            </a:r>
            <a:r>
              <a:rPr sz="900">
                <a:solidFill>
                  <a:srgbClr val="475569"/>
                </a:solidFill>
                <a:latin typeface="Calibri"/>
              </a:rPr>
              <a:t>Conduct extensive evaluations across varied skin tones (Fitzpatrick types I–VI) and ambient lighting conditions.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Mobile NPU Acceleration: </a:t>
            </a:r>
            <a:r>
              <a:rPr sz="900">
                <a:solidFill>
                  <a:srgbClr val="475569"/>
                </a:solidFill>
                <a:latin typeface="Calibri"/>
              </a:rPr>
              <a:t>Integrate Android NNAPI and INT8 quantization delegates for sub-50ms real-time continuous inference.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Multi-Modal Optical Fusion: </a:t>
            </a:r>
            <a:r>
              <a:rPr sz="900">
                <a:solidFill>
                  <a:srgbClr val="475569"/>
                </a:solidFill>
                <a:latin typeface="Calibri"/>
              </a:rPr>
              <a:t>Combine front-camera facial rPPG with rear-camera fingertip contact PPG for optical Pulse Transit Time (PTT) estimation.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• Clinical Kiosk Integration: </a:t>
            </a:r>
            <a:r>
              <a:rPr sz="900">
                <a:solidFill>
                  <a:srgbClr val="475569"/>
                </a:solidFill>
                <a:latin typeface="Calibri"/>
              </a:rPr>
              <a:t>Deploy edge inference on smart mirrors and digital healthcare triage kiosks for contactless community screening.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23559"/>
            <a:ext cx="10728655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714999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Sincere Gratitude to Mr. Om Singh (IIIT-NR), Prof. Aparna Pandey (BIT Raipur), Faculty Members &amp; Committee Reviewers</a:t>
            </a:r>
          </a:p>
          <a:p>
            <a:pPr algn="ctr">
              <a:defRPr sz="1050" b="1">
                <a:solidFill>
                  <a:srgbClr val="1D4ED8"/>
                </a:solidFill>
                <a:latin typeface="Arial"/>
              </a:defRPr>
            </a:pPr>
            <a:r>
              <a:t>— Thank You  •  Open for Questions &amp; Feedback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