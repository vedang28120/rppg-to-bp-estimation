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123444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"/>
            <a:ext cx="1143000" cy="1143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48840" y="438912"/>
            <a:ext cx="9308592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✦  VOCATIONAL TRAINING REPORT &amp; PROPOSED CAPSTONE PROJECT DEFENSE 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822960"/>
            <a:ext cx="93085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Mobile Remote Photoplethysmography to</a:t>
            </a:r>
            <a:br/>
            <a:r>
              <a:t>Cuffless Blood Pressure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Vocational Training on 'AI with Python' (IIIT Naya Raipur • 01/07/2026 to 10/08/2026)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728655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  <a:latin typeface="Arial"/>
              </a:defRPr>
            </a:pPr>
            <a:r>
              <a:t>STUDENT RESEARCHERS (4th Sem)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Arial"/>
              </a:defRPr>
            </a:pPr>
            <a:r>
              <a:t>• 1. Vedang Bhatt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Arial"/>
              </a:defRPr>
            </a:pPr>
            <a:r>
              <a:t>• 2. Anubhav Shrivastav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Arial"/>
              </a:defRPr>
            </a:pPr>
            <a:r>
              <a:t>• 3. Adarsh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2651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Arial"/>
              </a:defRPr>
            </a:pPr>
            <a:r>
              <a:t>INSTITUTIONAL MENTORS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VT Mentor:</a:t>
            </a:r>
          </a:p>
          <a:p>
            <a:pPr>
              <a:spcAft>
                <a:spcPts val="300"/>
              </a:spcAft>
              <a:defRPr sz="1100" b="1">
                <a:solidFill>
                  <a:srgbClr val="F1F5F9"/>
                </a:solidFill>
                <a:latin typeface="Arial"/>
              </a:defRPr>
            </a:pPr>
            <a:r>
              <a:t>Mr. Om Singh (IIIT-NR)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College Mentor:</a:t>
            </a:r>
          </a:p>
          <a:p>
            <a:pPr>
              <a:spcAft>
                <a:spcPts val="300"/>
              </a:spcAft>
              <a:defRPr sz="1100" b="1">
                <a:solidFill>
                  <a:srgbClr val="F1F5F9"/>
                </a:solidFill>
                <a:latin typeface="Arial"/>
              </a:defRPr>
            </a:pPr>
            <a:r>
              <a:t>Prof. Aparna Pandey (BIT Raipur)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2651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ACADEMIC DEPARTMENT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Arial"/>
              </a:defRPr>
            </a:pPr>
            <a:r>
              <a:t>Department of Computer Science &amp; Engineering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Bhilai Institute of Technology, Raipur</a:t>
            </a:r>
            <a:br/>
            <a:r>
              <a:t>Affiliated to CSVTU, Bhilai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81728"/>
            <a:ext cx="3447288" cy="1691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681728"/>
            <a:ext cx="3447288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791456"/>
            <a:ext cx="3118104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✦ AI WITH PYTHON</a:t>
            </a: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IIIT-NR Training Immersion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6-week intensive exposure across 45 structured topics from data wrangling to agentic AI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4681728"/>
            <a:ext cx="3447288" cy="1691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4681728"/>
            <a:ext cx="3447288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791456"/>
            <a:ext cx="3118104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59E0B"/>
                </a:solidFill>
                <a:latin typeface="Arial"/>
              </a:defRPr>
            </a:pPr>
            <a:r>
              <a:t>✦ APPLIED DSP &amp; DL</a:t>
            </a: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Signal Filtering to Deep Regressors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Savitzky-Golay polynomial smoothing synergized with 1D-CNN + BiGRU + Self-Attention in TensorFlow.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4681728"/>
            <a:ext cx="3447288" cy="1691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4681728"/>
            <a:ext cx="3447288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4791456"/>
            <a:ext cx="3118104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✦ CAPSTONE PROPOSAL</a:t>
            </a: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Contactless Cardiovascular Vitals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Smartphone front-camera rPPG pipeline for non-invasive, privacy-preserving continuous BP tracking.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6B6D4"/>
                </a:solidFill>
                <a:latin typeface="Arial"/>
              </a:defRPr>
            </a:pPr>
            <a:r>
              <a:t>✦  VOCATIONAL TRAINING OVERVIEW @ IIIT-NR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Slide 2: Introduction about the training undergone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1905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47288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673352"/>
            <a:ext cx="50292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73352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Arial"/>
              </a:defRPr>
            </a:pPr>
            <a:r>
              <a:t>ACADEMIC IMMERSION</a:t>
            </a:r>
          </a:p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Exposure at IIIT-NR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286000"/>
            <a:ext cx="3118104" cy="12700"/>
          </a:xfrm>
          <a:prstGeom prst="rect">
            <a:avLst/>
          </a:prstGeom>
          <a:solidFill>
            <a:srgbClr val="33415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0"/>
            <a:ext cx="3118104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Program: </a:t>
            </a:r>
            <a:r>
              <a:rPr sz="900">
                <a:solidFill>
                  <a:srgbClr val="94A3B8"/>
                </a:solidFill>
                <a:latin typeface="Calibri"/>
              </a:rPr>
              <a:t>6-Week Intensive Vocational Training in 'AI with Python'.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Timeline: </a:t>
            </a:r>
            <a:r>
              <a:rPr sz="900">
                <a:solidFill>
                  <a:srgbClr val="94A3B8"/>
                </a:solidFill>
                <a:latin typeface="Calibri"/>
              </a:rPr>
              <a:t>01/07/2026 to 10/08/2026 (Summer Break after 4th Sem).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Objective: </a:t>
            </a:r>
            <a:r>
              <a:rPr sz="900">
                <a:solidFill>
                  <a:srgbClr val="94A3B8"/>
                </a:solidFill>
                <a:latin typeface="Calibri"/>
              </a:rPr>
              <a:t>Bridging classroom computer science theory to professional AI &amp; data science workflows.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Environment: </a:t>
            </a:r>
            <a:r>
              <a:rPr sz="900">
                <a:solidFill>
                  <a:srgbClr val="94A3B8"/>
                </a:solidFill>
                <a:latin typeface="Calibri"/>
              </a:rPr>
              <a:t>Advanced laboratory environment with expert mentorship under Mr. Om Singh.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508760"/>
            <a:ext cx="3447288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673352"/>
            <a:ext cx="50292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1673352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Arial"/>
              </a:defRPr>
            </a:pPr>
            <a:r>
              <a:t>PROGRESSIVE CURRICULUM</a:t>
            </a:r>
          </a:p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Comprehensive AI Foundations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286000"/>
            <a:ext cx="3118104" cy="12700"/>
          </a:xfrm>
          <a:prstGeom prst="rect">
            <a:avLst/>
          </a:prstGeom>
          <a:solidFill>
            <a:srgbClr val="33415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377440"/>
            <a:ext cx="3118104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Data Foundations: </a:t>
            </a:r>
            <a:r>
              <a:rPr sz="900">
                <a:solidFill>
                  <a:srgbClr val="94A3B8"/>
                </a:solidFill>
                <a:latin typeface="Calibri"/>
              </a:rPr>
              <a:t>NumPy vectorization, Pandas wrangling, Matplotlib visualization.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Classical ML Rigor: </a:t>
            </a:r>
            <a:r>
              <a:rPr sz="900">
                <a:solidFill>
                  <a:srgbClr val="94A3B8"/>
                </a:solidFill>
                <a:latin typeface="Calibri"/>
              </a:rPr>
              <a:t>Supervised/Unsupervised models, bias-variance tradeoffs, K-Fold cross-validation.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Deep Learning: </a:t>
            </a:r>
            <a:r>
              <a:rPr sz="900">
                <a:solidFill>
                  <a:srgbClr val="94A3B8"/>
                </a:solidFill>
                <a:latin typeface="Calibri"/>
              </a:rPr>
              <a:t>TensorFlow graph execution, activations (Sigmoid, ReLU, SoftMax), CNNs, RNNs &amp; LSTMs.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Signal Filtering: </a:t>
            </a:r>
            <a:r>
              <a:rPr sz="900">
                <a:solidFill>
                  <a:srgbClr val="94A3B8"/>
                </a:solidFill>
                <a:latin typeface="Calibri"/>
              </a:rPr>
              <a:t>Digital polynomial smoothing using the Savitzky-Golay filter.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508760"/>
            <a:ext cx="3447288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6448" y="1673352"/>
            <a:ext cx="50292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1673352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Arial"/>
              </a:defRPr>
            </a:pPr>
            <a:r>
              <a:t>APPLIED CAPSTONE</a:t>
            </a:r>
          </a:p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Modern AI &amp; Project Bridge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2286000"/>
            <a:ext cx="3118104" cy="12700"/>
          </a:xfrm>
          <a:prstGeom prst="rect">
            <a:avLst/>
          </a:prstGeom>
          <a:solidFill>
            <a:srgbClr val="33415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377440"/>
            <a:ext cx="3118104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Modern AI Tools: </a:t>
            </a:r>
            <a:r>
              <a:rPr sz="900">
                <a:solidFill>
                  <a:srgbClr val="94A3B8"/>
                </a:solidFill>
                <a:latin typeface="Calibri"/>
              </a:rPr>
              <a:t>Introductory exposure to NLP, Word2Vec, GloVe, Transformer Encoders, RAG, LangChain &amp; MCP.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Applied Inspiration: </a:t>
            </a:r>
            <a:r>
              <a:rPr sz="900">
                <a:solidFill>
                  <a:srgbClr val="94A3B8"/>
                </a:solidFill>
                <a:latin typeface="Calibri"/>
              </a:rPr>
              <a:t>Formulated an interdisciplinary capstone bridging digital signal processing to contactless vital sensing.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Privacy Focus: </a:t>
            </a:r>
            <a:r>
              <a:rPr sz="900">
                <a:solidFill>
                  <a:srgbClr val="94A3B8"/>
                </a:solidFill>
                <a:latin typeface="Calibri"/>
              </a:rPr>
              <a:t>100% on-device edge execution eliminating cloud biometric transfer.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Ethical Humility: </a:t>
            </a:r>
            <a:r>
              <a:rPr sz="900">
                <a:solidFill>
                  <a:srgbClr val="94A3B8"/>
                </a:solidFill>
                <a:latin typeface="Calibri"/>
              </a:rPr>
              <a:t>Honest appraisal of exploratory prototypes and clinical validation boundaries.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6B6D4"/>
                </a:solidFill>
                <a:latin typeface="Arial"/>
              </a:defRPr>
            </a:pPr>
            <a:r>
              <a:t>✦  CORE PEDAGOGICAL GOALS @ IIIT-NR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Slide 3: Training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1905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412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566928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00200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Python &amp; Scientific Data Foundations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Master vectorized array operations with NumPy, tabular data manipulation with Pandas, and data visualization with Matplotlib.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78024"/>
            <a:ext cx="10728655" cy="8412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15184"/>
            <a:ext cx="566928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69464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Machine Learning Paradigms &amp; Validation Rigor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Understand supervised/unsupervised algorithms, bias-variance tradeoffs, L1/L2 regularization, and robust K-Fold cross-validation.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47288"/>
            <a:ext cx="10728655" cy="8412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584448"/>
            <a:ext cx="566928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8B5CF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538728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Deep Learning &amp; Layer Mechanics in TensorFlow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Build computational graphs in TensorFlow—mastering activations (Sigmoid, ReLU, SoftMax), backpropagation, CNNs, and sequence models (RNN, LSTM, Self-Attention).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16552"/>
            <a:ext cx="10728655" cy="8412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553712"/>
            <a:ext cx="566928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07992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Digital Signal Filtering &amp; Mathematical Operations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Implement Savitzky-Golay digital polynomial smoothing for noise reduction without peak distortion; explore vector Cosine Similarity.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85816"/>
            <a:ext cx="10728655" cy="8412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5522976"/>
            <a:ext cx="566928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477256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NLP, Transformers &amp; Emerging Agentic AI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Gain exposure to Word2Vec, GloVe, Contextual Embeddings, Transformer Encoders, RAG architecture, LangChain orchestration, and Agentic AI tools / MCP.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  <a:latin typeface="Arial"/>
              </a:defRPr>
            </a:pPr>
            <a:r>
              <a:t>✦  COMPREHENSIVE 45-TOPIC SYLLABUS @ IIIT-NR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Slide 4: Training Modules / Topics Covered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1905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029968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18488"/>
            <a:ext cx="1810512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6B6D4"/>
                </a:solidFill>
                <a:latin typeface="Arial"/>
              </a:defRPr>
            </a:pPr>
            <a:r>
              <a:t>MOD 1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Python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847088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Python basics &amp; syntax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NumPy array vectorization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Pandas data wrangling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Matplotlib visualizations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Data preprocessing flow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Feature scaling &amp; norms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508760"/>
            <a:ext cx="2029968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08376" y="1618488"/>
            <a:ext cx="1810512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Arial"/>
              </a:defRPr>
            </a:pPr>
            <a:r>
              <a:t>MOD 2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ML Rigor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130552"/>
            <a:ext cx="1847088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Supervised &amp; Unsupervised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Semi-Supervised &amp; RL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Linear &amp; Polynomial Reg.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Logistic regression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Underfitting / Overfitting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Regularisation (L1 / L2)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K-fold cross-validation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Metrics: Acc, Prec, Rec, 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508760"/>
            <a:ext cx="2029968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75504" y="1618488"/>
            <a:ext cx="1810512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8B5CF6"/>
                </a:solidFill>
                <a:latin typeface="Arial"/>
              </a:defRPr>
            </a:pPr>
            <a:r>
              <a:t>MOD 3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Deep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6" y="2130552"/>
            <a:ext cx="1847088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TensorFlow ecosystem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Computational graphs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Backpropagation math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Activations: Sigmoid, ReLU, SoftMax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Layers: Conv, Pool, Dense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CNN architectures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DNN, RNN &amp; LSTM models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Self-Attention primitives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2904" y="1508760"/>
            <a:ext cx="2029968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42632" y="1618488"/>
            <a:ext cx="1810512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9E0B"/>
                </a:solidFill>
                <a:latin typeface="Arial"/>
              </a:defRPr>
            </a:pPr>
            <a:r>
              <a:t>MOD 4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Signal &amp; 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130552"/>
            <a:ext cx="1847088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Savitzky-Golay filter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NLP foundations &amp; NLTK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Word-to-vec embeddings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GloVe representations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Sequence encoders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Contextual embeddings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Vector Cosine Similarity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0032" y="1508760"/>
            <a:ext cx="2029968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0" y="1618488"/>
            <a:ext cx="1810512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MOD 5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GenAI &amp;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130552"/>
            <a:ext cx="1847088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Transformer architectures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Tokens &amp; Tokenization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Large Language Models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Fine-tuning open models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RAG system architecture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LangChain orchestration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Agentic AI &amp; tool calling</a:t>
            </a:r>
          </a:p>
          <a:p>
            <a:pPr>
              <a:spcAft>
                <a:spcPts val="350"/>
              </a:spcAft>
              <a:defRPr sz="850">
                <a:solidFill>
                  <a:srgbClr val="F1F5F9"/>
                </a:solidFill>
                <a:latin typeface="Calibri"/>
              </a:defRPr>
            </a:pPr>
            <a:r>
              <a:t>• MCP (Model Context Protocol)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  <a:latin typeface="Arial"/>
              </a:defRPr>
            </a:pPr>
            <a:r>
              <a:t>✦  PRACTICAL INSIGHTS GAINED UNDER MENTORSHIP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Slide 5: Key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1905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66944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55064"/>
            <a:ext cx="2377440" cy="274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6B6D4"/>
                </a:solidFill>
                <a:latin typeface="Arial"/>
              </a:defRPr>
            </a:pPr>
            <a:r>
              <a:t>✦ DATA PREPROCESSING &amp; RIGOR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9011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1. Real-World Signals Require Rigorous Preprocessing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Real-world data—whether tabular, audio, or physiological—carries severe baseline wander and sensor noise. Standardizing feature distributions, robust encoding, and using K-fold cross-validation are indispensable before training any deep neural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08760"/>
            <a:ext cx="5266944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64224" y="1655064"/>
            <a:ext cx="2377440" cy="274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9E0B"/>
                </a:solidFill>
                <a:latin typeface="Arial"/>
              </a:defRPr>
            </a:pPr>
            <a:r>
              <a:t>✦ SIGNAL PROCESSING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984248"/>
            <a:ext cx="49011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2. Digital Smoothing Preserves Critical Peak Extrema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Learning digital signal smoothing techniques like the Savitzky-Golay filter demonstrated how local polynomial regression effectively removes high-frequency noise while preserving vital systolic/diastolic peak extrema without distorting signal morphology.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66944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169664"/>
            <a:ext cx="2377440" cy="274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8B5CF6"/>
                </a:solidFill>
                <a:latin typeface="Arial"/>
              </a:defRPr>
            </a:pPr>
            <a:r>
              <a:t>✦ NEURAL ARCHITECTURE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49011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3. Synergy of Convolutional &amp; Recurrent / Attention Layers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Understanding CNNs and LSTMs in TensorFlow revealed that combining 1D convolutions (for localized morphological feature extraction) with recurrent and self-attention layers (for temporal cardiac periodicity) provides superior time-series representation.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4023360"/>
            <a:ext cx="5266944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4169664"/>
            <a:ext cx="2377440" cy="274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✦ CAPSTONE INSPIRATION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4498848"/>
            <a:ext cx="49011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4. Applied Exploration: Optical Blood Pressure Estimation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Guided by our coursework in Python, signal processing, and deep neural models, we formulated our undergraduate capstone project: extracting transcutaneous optical pulse signals from smartphone cameras to explore cuffless blood pressure estimation.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6B6D4"/>
                </a:solidFill>
                <a:latin typeface="Arial"/>
              </a:defRPr>
            </a:pPr>
            <a:r>
              <a:t>✦  PROPOSED CAPSTONE PROJECT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Slide 6: Proposed Project Title &amp; its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1905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66944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809744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6B6D4"/>
                </a:solidFill>
                <a:latin typeface="Arial"/>
              </a:defRPr>
            </a:pPr>
            <a:r>
              <a:t>✦ PROPOSED CAPSTONE PROJECT TITLE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Mobile Remote Photoplethysmography (rPPG) to Cuffless Blood Pressure Estimation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1F5F9"/>
                </a:solidFill>
                <a:latin typeface="Arial"/>
              </a:rPr>
              <a:t>• Global Clinical Challenge: </a:t>
            </a:r>
            <a:r>
              <a:rPr sz="950">
                <a:solidFill>
                  <a:srgbClr val="94A3B8"/>
                </a:solidFill>
                <a:latin typeface="Calibri"/>
              </a:rPr>
              <a:t>Hypertension impacts &gt;1.28B adults globally as a primary asymptomatic cardiovascular risk factor.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1F5F9"/>
                </a:solidFill>
                <a:latin typeface="Arial"/>
              </a:rPr>
              <a:t>• Limitations of Arm Cuffs: </a:t>
            </a:r>
            <a:r>
              <a:rPr sz="950">
                <a:solidFill>
                  <a:srgbClr val="94A3B8"/>
                </a:solidFill>
                <a:latin typeface="Calibri"/>
              </a:rPr>
              <a:t>Traditional inflatable cuffs are intermittent, uncomfortable, and disrupt sleep during 24-hour monitoring.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1F5F9"/>
                </a:solidFill>
                <a:latin typeface="Arial"/>
              </a:rPr>
              <a:t>• White-Coat Effect: </a:t>
            </a:r>
            <a:r>
              <a:rPr sz="950">
                <a:solidFill>
                  <a:srgbClr val="94A3B8"/>
                </a:solidFill>
                <a:latin typeface="Calibri"/>
              </a:rPr>
              <a:t>In-clinic cuff pressure induces acute stress responses, frequently causing false-positive hypertension readings.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1F5F9"/>
                </a:solidFill>
                <a:latin typeface="Arial"/>
              </a:rPr>
              <a:t>• Contactless Optical Concept: </a:t>
            </a:r>
            <a:r>
              <a:rPr sz="950">
                <a:solidFill>
                  <a:srgbClr val="94A3B8"/>
                </a:solidFill>
                <a:latin typeface="Calibri"/>
              </a:rPr>
              <a:t>Smartphone RGB cameras detect subtle facial color variations caused by blood volume pulses, estimating continuous blood pressure non-invasively.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08760"/>
            <a:ext cx="5266944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windkessel_da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845300"/>
            <a:ext cx="4901184" cy="18531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64224" y="5897880"/>
            <a:ext cx="4901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  <a:latin typeface="Calibri"/>
              </a:defRPr>
            </a:pPr>
            <a:r>
              <a:t>Figure 1: Transcutaneous Optical Absorption &amp; Hemodynamic Waveform Dynamics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6B6D4"/>
                </a:solidFill>
                <a:latin typeface="Arial"/>
              </a:defRPr>
            </a:pPr>
            <a:r>
              <a:t>✦  SYSTEM SPECIFICATIONS &amp; ENGINEERING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Slide 7: Objectives of the Proposed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1905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412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566928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00200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Optical Pulse Extraction via Smartphone Camera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Capture facial video at 30 FPS using locked camera parameters; isolate forehead microvascular ROIs and extract rPPG pulse waveforms via POS chrominance projection.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78024"/>
            <a:ext cx="10728655" cy="8412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15184"/>
            <a:ext cx="566928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69464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Physiological Signal Denoising &amp; Conditioning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Standardize variable frame rates to a uniform 125 Hz grid via PCHIP interpolation and apply Savitzky-Golay polynomial smoothing + Butterworth bandpass (0.75–2.5 Hz).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47288"/>
            <a:ext cx="10728655" cy="8412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584448"/>
            <a:ext cx="566928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8B5CF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538728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Deep Neural Sequence Regression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Develop a hybrid deep architecture (1D-CNN feature extraction + BiGRU sequence modeling + Self-Attention) in TensorFlow with decoupled linear heads for SBP and DBP.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16552"/>
            <a:ext cx="10728655" cy="8412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553712"/>
            <a:ext cx="566928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07992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Single-Point Personal Calibration Study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Investigate single-point baseline calibration to anchor individual vascular tone and arterial stiffness, overcoming physiological 'template collapse'.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85816"/>
            <a:ext cx="10728655" cy="8412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5522976"/>
            <a:ext cx="566928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477256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Privacy-Preserving On-Device Mobile Execution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Optimize model inference for lightweight Android execution (using TFLite quantization), ensuring 100% on-device privacy with zero cloud transmission.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6B6D4"/>
                </a:solidFill>
                <a:latin typeface="Arial"/>
              </a:defRPr>
            </a:pPr>
            <a:r>
              <a:t>✦  END-TO-END 5-STAGE TECHNICAL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Slide 9: Methodology / Approach of the Proposed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1905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66944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80974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6B6D4"/>
                </a:solidFill>
                <a:latin typeface="Arial"/>
              </a:defRPr>
            </a:pPr>
            <a:r>
              <a:t>✦ 5-STAGE TECHNICAL PIPELINE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Stage 0 • Sensor Photometric Lock: </a:t>
            </a:r>
            <a:r>
              <a:rPr sz="900">
                <a:solidFill>
                  <a:srgbClr val="94A3B8"/>
                </a:solidFill>
                <a:latin typeface="Calibri"/>
              </a:rPr>
              <a:t>Lock Camera2 auto-exposure, gain, and white balance to eliminate artificial sensor drift.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Stage 1 • Facial Landmark ROI Tracking: </a:t>
            </a:r>
            <a:r>
              <a:rPr sz="900">
                <a:solidFill>
                  <a:srgbClr val="94A3B8"/>
                </a:solidFill>
                <a:latin typeface="Calibri"/>
              </a:rPr>
              <a:t>Track facial landmarks to dynamically isolate perfused forehead skin pixels.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Stage 2 • Chrominance Subspace (POS): </a:t>
            </a:r>
            <a:r>
              <a:rPr sz="900">
                <a:solidFill>
                  <a:srgbClr val="94A3B8"/>
                </a:solidFill>
                <a:latin typeface="Calibri"/>
              </a:rPr>
              <a:t>Project RGB channels orthogonal to skin-tone vectors to cancel specular reflections (8.9 dB SNR).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Stage 3 • Dual-Stream DSP Filtering: </a:t>
            </a:r>
            <a:r>
              <a:rPr sz="900">
                <a:solidFill>
                  <a:srgbClr val="94A3B8"/>
                </a:solidFill>
                <a:latin typeface="Calibri"/>
              </a:rPr>
              <a:t>Resample to 125 Hz via PCHIP, apply Butterworth bandpass and Savitzky-Golay polynomial smoothing.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Stage 4 • Deep Sequence Regression: </a:t>
            </a:r>
            <a:r>
              <a:rPr sz="900">
                <a:solidFill>
                  <a:srgbClr val="94A3B8"/>
                </a:solidFill>
                <a:latin typeface="Calibri"/>
              </a:rPr>
              <a:t>Feed conditioned pulse waves into 1D-ResNet + BiGRU + Attention for instantaneous SBP/DBP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08760"/>
            <a:ext cx="5266944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782670"/>
            <a:ext cx="4901184" cy="19784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64224" y="5897880"/>
            <a:ext cx="4901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  <a:latin typeface="Calibri"/>
              </a:defRPr>
            </a:pPr>
            <a:r>
              <a:t>Figure 2: End-to-End Smartphone Ingestion &amp; Deep Sequence Inference Workflow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6B6D4"/>
                </a:solidFill>
                <a:latin typeface="Arial"/>
              </a:defRPr>
            </a:pPr>
            <a:r>
              <a:t>✦  NEURAL ARCHITECTURE &amp;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Slide 10: Proposed Project Work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1905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66944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80974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6B6D4"/>
                </a:solidFill>
                <a:latin typeface="Arial"/>
              </a:defRPr>
            </a:pPr>
            <a:r>
              <a:t>✦ MODEL-06-SEPHEAD ARCHITECTURE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Input Tensor Representation: </a:t>
            </a:r>
            <a:r>
              <a:rPr sz="900">
                <a:solidFill>
                  <a:srgbClr val="94A3B8"/>
                </a:solidFill>
                <a:latin typeface="Calibri"/>
              </a:rPr>
              <a:t>1 × 1250 standardized optical pulse samples (10-second window @ 125 Hz) + demographic metadata.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Multi-Scale 1D-ResNet Branches: </a:t>
            </a:r>
            <a:r>
              <a:rPr sz="900">
                <a:solidFill>
                  <a:srgbClr val="94A3B8"/>
                </a:solidFill>
                <a:latin typeface="Calibri"/>
              </a:rPr>
              <a:t>Branch 1 (Kernel=5, Stride=2) extracts sharp systolic peaks; Branch 2 (Kernel=11, Dilated) extracts global waveform rhythms.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Temporal Sequence Modeling: </a:t>
            </a:r>
            <a:r>
              <a:rPr sz="900">
                <a:solidFill>
                  <a:srgbClr val="94A3B8"/>
                </a:solidFill>
                <a:latin typeface="Calibri"/>
              </a:rPr>
              <a:t>2-layer Bidirectional GRU (hidden=64) captures cardiac phase periodicity across successive heartbeats.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Multi-Head Self-Attention: </a:t>
            </a:r>
            <a:r>
              <a:rPr sz="900">
                <a:solidFill>
                  <a:srgbClr val="94A3B8"/>
                </a:solidFill>
                <a:latin typeface="Calibri"/>
              </a:rPr>
              <a:t>4-head temporal attention mechanism weights high-SNR cardiac cycles over motion-affected cycles.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Decoupled Regression Heads: </a:t>
            </a:r>
            <a:r>
              <a:rPr sz="900">
                <a:solidFill>
                  <a:srgbClr val="94A3B8"/>
                </a:solidFill>
                <a:latin typeface="Calibri"/>
              </a:rPr>
              <a:t>Separate dense output heads predicting SBP (stroke volume) and DBP (peripheral resistance) independently.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08760"/>
            <a:ext cx="5266944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model0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1753019"/>
            <a:ext cx="4992624" cy="225468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81344" y="4572000"/>
            <a:ext cx="5266944" cy="1828800"/>
          </a:xfrm>
          <a:prstGeom prst="roundRect">
            <a:avLst/>
          </a:prstGeom>
          <a:solidFill>
            <a:srgbClr val="1824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4681728"/>
            <a:ext cx="490118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6B6D4"/>
                </a:solidFill>
                <a:latin typeface="Arial"/>
              </a:defRPr>
            </a:pPr>
            <a:r>
              <a:t>⚡ LIVE DEMONSTRATION TOUCHPOINT</a:t>
            </a:r>
          </a:p>
          <a:p>
            <a:pPr>
              <a:spcAft>
                <a:spcPts val="3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📱 [Switching to Smartphone for Live Prototype Demo]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Demonstrating real-time Android Camera2 video ingestion, forehead ROI tracking, Savitzky-Golay signal smoothing, and live blood pressure inference on device.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  <a:latin typeface="Arial"/>
              </a:defRPr>
            </a:pPr>
            <a:r>
              <a:t>✦  EXPERIMENTAL BENCHMARKS &amp; VALIDATION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Slide 11: Expected Outcomes &amp; Results of the Proposed Project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1905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66944" cy="10789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20116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Arial"/>
              </a:defRPr>
            </a:pPr>
            <a:r>
              <a:t>10.12 / 5.91 mmHg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00200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EXPLORATORY SUBJECT MAE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Subject-level test error (SBP / DBP) on synchronized video evaluation partitions.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266944" cy="10789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07208"/>
            <a:ext cx="20116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B6D4"/>
                </a:solidFill>
                <a:latin typeface="Arial"/>
              </a:defRPr>
            </a:pPr>
            <a:r>
              <a:t>6.70 mmHg 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88920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PROGRESSION OVER BASELINE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Substantial error reduction achieved over naive linear baselines (MODEL-01: 16.82 → MODEL-06: 10.12).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66944" cy="10789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95928"/>
            <a:ext cx="20116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59E0B"/>
                </a:solidFill>
                <a:latin typeface="Arial"/>
              </a:defRPr>
            </a:pPr>
            <a:r>
              <a:t>8.9 dB SNR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977640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POS CHROMINANCE PROJECTION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Orthogonal skin-plane projection placing specular white reflection directly in the null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5266944" cy="10789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84648"/>
            <a:ext cx="20116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8B5CF6"/>
                </a:solidFill>
                <a:latin typeface="Arial"/>
              </a:defRPr>
            </a:pPr>
            <a:r>
              <a:t>120 ms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166360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EDGE MOBILE EXECUTION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Zero-dropped frames with asynchronous offline batching on commodity Android CPU.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08760"/>
            <a:ext cx="5266944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ig_extractor_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839568"/>
            <a:ext cx="4901184" cy="18646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4224" y="5897880"/>
            <a:ext cx="4901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  <a:latin typeface="Calibri"/>
              </a:defRPr>
            </a:pPr>
            <a:r>
              <a:t>Figure 3: rPPG Extractor SNR &amp; Model Error (MAE) Benchmark Comparison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  <a:latin typeface="Arial"/>
              </a:defRPr>
            </a:pPr>
            <a:r>
              <a:t>✦  SUMMARY &amp; CAPSTONE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Slide 12: Conclusion remarks &amp; Future Scope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1905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66944" cy="3977639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809744" cy="364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6B6D4"/>
                </a:solidFill>
                <a:latin typeface="Arial"/>
              </a:defRPr>
            </a:pPr>
            <a:r>
              <a:t>✦ CONCLUDING ACHIEVEMENTS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Comprehensive VT Foundation: </a:t>
            </a:r>
            <a:r>
              <a:rPr sz="900">
                <a:solidFill>
                  <a:srgbClr val="94A3B8"/>
                </a:solidFill>
                <a:latin typeface="Calibri"/>
              </a:rPr>
              <a:t>The 6-week Vocational Training at IIIT-NR provided a strong theoretical and practical grounding across 45 AI with Python topics.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Applied Interdisciplinary Bridge: </a:t>
            </a:r>
            <a:r>
              <a:rPr sz="900">
                <a:solidFill>
                  <a:srgbClr val="94A3B8"/>
                </a:solidFill>
                <a:latin typeface="Calibri"/>
              </a:rPr>
              <a:t>Applying digital signal filtering (Savitzky-Golay) and deep sequence models (CNN-BiGRU-Attention) to optical pulse waveforms proved highly effective.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Feasibility Confirmed: </a:t>
            </a:r>
            <a:r>
              <a:rPr sz="900">
                <a:solidFill>
                  <a:srgbClr val="94A3B8"/>
                </a:solidFill>
                <a:latin typeface="Calibri"/>
              </a:rPr>
              <a:t>Exploratory results confirm that standard smartphone cameras can capture meaningful cardiovascular vitals without dedicated hardware.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Privacy-Preserving Paradigm: </a:t>
            </a:r>
            <a:r>
              <a:rPr sz="900">
                <a:solidFill>
                  <a:srgbClr val="94A3B8"/>
                </a:solidFill>
                <a:latin typeface="Calibri"/>
              </a:rPr>
              <a:t>On-device edge inference ensures zero sensitive biometric video data leaves the user's mobile 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08760"/>
            <a:ext cx="5266944" cy="3977639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9944" y="1673352"/>
            <a:ext cx="4809744" cy="364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59E0B"/>
                </a:solidFill>
                <a:latin typeface="Arial"/>
              </a:defRPr>
            </a:pPr>
            <a:r>
              <a:t>✦ FUTURE SCOPE &amp; ROADMAP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Diverse Demographic Trials: </a:t>
            </a:r>
            <a:r>
              <a:rPr sz="900">
                <a:solidFill>
                  <a:srgbClr val="94A3B8"/>
                </a:solidFill>
                <a:latin typeface="Calibri"/>
              </a:rPr>
              <a:t>Conduct extensive evaluations across varied skin tones (Fitzpatrick types I–VI) and ambient lighting conditions.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Mobile NPU Acceleration: </a:t>
            </a:r>
            <a:r>
              <a:rPr sz="900">
                <a:solidFill>
                  <a:srgbClr val="94A3B8"/>
                </a:solidFill>
                <a:latin typeface="Calibri"/>
              </a:rPr>
              <a:t>Integrate Android NNAPI and INT8 quantization delegates for sub-50ms real-time continuous inference.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Multi-Modal Optical Fusion: </a:t>
            </a:r>
            <a:r>
              <a:rPr sz="900">
                <a:solidFill>
                  <a:srgbClr val="94A3B8"/>
                </a:solidFill>
                <a:latin typeface="Calibri"/>
              </a:rPr>
              <a:t>Combine front-camera facial rPPG with rear-camera fingertip contact PPG for optical Pulse Transit Time (PTT) estimation.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1F5F9"/>
                </a:solidFill>
                <a:latin typeface="Arial"/>
              </a:rPr>
              <a:t>• Clinical Kiosk Integration: </a:t>
            </a:r>
            <a:r>
              <a:rPr sz="900">
                <a:solidFill>
                  <a:srgbClr val="94A3B8"/>
                </a:solidFill>
                <a:latin typeface="Calibri"/>
              </a:rPr>
              <a:t>Deploy edge inference on smart mirrors and digital healthcare triage kiosks for contactless community screening.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59"/>
            <a:ext cx="10728655" cy="777240"/>
          </a:xfrm>
          <a:prstGeom prst="roundRect">
            <a:avLst/>
          </a:prstGeom>
          <a:solidFill>
            <a:srgbClr val="1824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14999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Heartfelt Gratitude to Mr. Om Singh (IIIT-NR), Prof. Aparna Pandey (BIT Raipur), Faculty Members &amp; Committee Reviewers</a:t>
            </a:r>
          </a:p>
          <a:p>
            <a:pPr algn="ctr">
              <a:defRPr sz="1050" b="1">
                <a:solidFill>
                  <a:srgbClr val="06B6D4"/>
                </a:solidFill>
                <a:latin typeface="Arial"/>
              </a:defRPr>
            </a:pPr>
            <a:r>
              <a:t>— Thank You  •  Open for Questions &amp; Feedback 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