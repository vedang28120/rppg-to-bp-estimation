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60000">
                <a:srgbClr val="2D6A4F"/>
              </a:gs>
              <a:gs pos="100000">
                <a:srgbClr val="4091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1188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40000" dist="15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"/>
            <a:ext cx="1060704" cy="1060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320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B7E4C7"/>
                </a:solidFill>
                <a:latin typeface="Calibri"/>
              </a:defRPr>
            </a:pPr>
            <a:r>
              <a:t>A Presentation on Vocational Training &amp; Proposed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7498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Mobile Remote Photoplethysmography to</a:t>
            </a:r>
            <a:br/>
            <a:r>
              <a:t>Cuffless Blood Pressure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7276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DAAF47"/>
                </a:solidFill>
                <a:latin typeface="Calibri"/>
              </a:rPr>
              <a:t>AI with Python </a:t>
            </a:r>
            <a:r>
              <a:rPr sz="1100">
                <a:solidFill>
                  <a:srgbClr val="B7E4C7"/>
                </a:solidFill>
                <a:latin typeface="Calibri"/>
              </a:rPr>
              <a:t>  |  IIIT Naya Raipur  |  01 July to 10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97480"/>
            <a:ext cx="344728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6459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STUDENT RESEARCHERS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30815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212529"/>
                </a:solidFill>
                <a:latin typeface="Calibri"/>
              </a:rPr>
              <a:t>1. Vedang Bhatt</a:t>
            </a:r>
            <a:r>
              <a:rPr sz="900">
                <a:solidFill>
                  <a:srgbClr val="6C757D"/>
                </a:solidFill>
                <a:latin typeface="Calibri"/>
              </a:rPr>
              <a:t>   B.Tech CSE, 4th Semester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12529"/>
                </a:solidFill>
                <a:latin typeface="Calibri"/>
              </a:rPr>
              <a:t>2. Anubhav Shrivastav</a:t>
            </a:r>
            <a:r>
              <a:rPr sz="900">
                <a:solidFill>
                  <a:srgbClr val="6C757D"/>
                </a:solidFill>
                <a:latin typeface="Calibri"/>
              </a:rPr>
              <a:t>   B.Tech CSE, 4th Semester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12529"/>
                </a:solidFill>
                <a:latin typeface="Calibri"/>
              </a:rPr>
              <a:t>3. Aadarsh</a:t>
            </a:r>
            <a:r>
              <a:rPr sz="900">
                <a:solidFill>
                  <a:srgbClr val="6C757D"/>
                </a:solidFill>
                <a:latin typeface="Calibri"/>
              </a:rPr>
              <a:t>   B.Tech CSE, 4th Semester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697480"/>
            <a:ext cx="344728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2834640"/>
            <a:ext cx="1828800" cy="256032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MENTORS &amp;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200400"/>
            <a:ext cx="30815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6C757D"/>
                </a:solidFill>
                <a:latin typeface="Calibri"/>
              </a:defRPr>
            </a:pPr>
            <a:r>
              <a:t>VT Mentor (IIIT-NR)</a:t>
            </a:r>
          </a:p>
          <a:p>
            <a:pPr algn="l">
              <a:spcAft>
                <a:spcPts val="10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Dr. Anurag Singh</a:t>
            </a:r>
          </a:p>
          <a:p>
            <a:pPr>
              <a:spcAft>
                <a:spcPts val="100"/>
              </a:spcAft>
              <a:defRPr sz="850">
                <a:solidFill>
                  <a:srgbClr val="6C757D"/>
                </a:solidFill>
                <a:latin typeface="Calibri"/>
              </a:defRPr>
            </a:pPr>
            <a:r>
              <a:t>College Mentor (BIT Raipur)</a:t>
            </a:r>
          </a:p>
          <a:p>
            <a:pPr algn="l">
              <a:spcAft>
                <a:spcPts val="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Prof. Aparna Pandey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4696" y="2697480"/>
            <a:ext cx="344728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91856" y="2834640"/>
            <a:ext cx="201168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ACADEMIC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3200400"/>
            <a:ext cx="308152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212529"/>
                </a:solidFill>
                <a:latin typeface="Calibri"/>
              </a:defRPr>
            </a:pPr>
            <a:r>
              <a:t>Department of Computer Science &amp; Engineering</a:t>
            </a:r>
          </a:p>
          <a:p>
            <a:pPr algn="l">
              <a:spcAft>
                <a:spcPts val="200"/>
              </a:spcAft>
              <a:defRPr sz="1000" b="0" i="0">
                <a:solidFill>
                  <a:srgbClr val="343A40"/>
                </a:solidFill>
                <a:latin typeface="Calibri"/>
              </a:defRPr>
            </a:pPr>
            <a:r>
              <a:t>Bhilai Institute of Technology, Raipur</a:t>
            </a:r>
          </a:p>
          <a:p>
            <a:pPr algn="l">
              <a:spcAft>
                <a:spcPts val="0"/>
              </a:spcAft>
              <a:defRPr sz="900" b="0" i="0">
                <a:solidFill>
                  <a:srgbClr val="6C757D"/>
                </a:solidFill>
                <a:latin typeface="Calibri"/>
              </a:defRPr>
            </a:pPr>
            <a:r>
              <a:t>Affiliated to CSVTU, Bhilai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120640"/>
            <a:ext cx="10908792" cy="640080"/>
          </a:xfrm>
          <a:prstGeom prst="roundRect">
            <a:avLst/>
          </a:prstGeom>
          <a:solidFill>
            <a:srgbClr val="E8F6EF"/>
          </a:solidFill>
          <a:ln w="9525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950" b="0" i="1">
                <a:solidFill>
                  <a:srgbClr val="1B4332"/>
                </a:solidFill>
                <a:latin typeface="Calibri"/>
              </a:defRPr>
            </a:pPr>
            <a:r>
              <a:t>We express our sincere gratitude to Dr. Anurag Singh (IIIT-NR), Prof. Aparna Pandey (BIT Raipur), and all faculty members for their invaluable guidance and support throughout this training.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1 / 11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Introduction about the Training Undergone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2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44728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1581912"/>
            <a:ext cx="384048" cy="384048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54480"/>
            <a:ext cx="26426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1300" b="1" i="0">
                <a:solidFill>
                  <a:srgbClr val="212529"/>
                </a:solidFill>
                <a:latin typeface="Calibri"/>
              </a:defRPr>
            </a:pPr>
            <a:r>
              <a:t>Academic Immersion</a:t>
            </a:r>
          </a:p>
          <a:p>
            <a:pPr algn="l">
              <a:spcAft>
                <a:spcPts val="0"/>
              </a:spcAft>
              <a:defRPr sz="900" b="0" i="0">
                <a:solidFill>
                  <a:srgbClr val="6C757D"/>
                </a:solidFill>
                <a:latin typeface="Calibri"/>
              </a:defRPr>
            </a:pPr>
            <a:r>
              <a:t>6-Week Intensive at IIIT-NR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167128"/>
            <a:ext cx="3118104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286000"/>
            <a:ext cx="304495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Duration: </a:t>
            </a:r>
            <a:r>
              <a:rPr sz="950">
                <a:solidFill>
                  <a:srgbClr val="343A40"/>
                </a:solidFill>
                <a:latin typeface="Calibri"/>
              </a:rPr>
              <a:t>01/07/2026 to 10/08/2026, full-time immersive training during summer break after 4th semester.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Course: </a:t>
            </a:r>
            <a:r>
              <a:rPr sz="950">
                <a:solidFill>
                  <a:srgbClr val="343A40"/>
                </a:solidFill>
                <a:latin typeface="Calibri"/>
              </a:rPr>
              <a:t>'AI with Python', covering the complete spectrum from scientific computing to modern generative AI.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Mentorship: </a:t>
            </a:r>
            <a:r>
              <a:rPr sz="950">
                <a:solidFill>
                  <a:srgbClr val="343A40"/>
                </a:solidFill>
                <a:latin typeface="Calibri"/>
              </a:rPr>
              <a:t>Expert guidance from Dr. Anurag Singh at IIIT-NR, with continuous laboratory and project support.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Environment: </a:t>
            </a:r>
            <a:r>
              <a:rPr sz="950">
                <a:solidFill>
                  <a:srgbClr val="343A40"/>
                </a:solidFill>
                <a:latin typeface="Calibri"/>
              </a:rPr>
              <a:t>Advanced computational laboratory with hands-on coding sessions and live demonstrations.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417320"/>
            <a:ext cx="344728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89120" y="1581912"/>
            <a:ext cx="384048" cy="38404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554480"/>
            <a:ext cx="26426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1300" b="1" i="0">
                <a:solidFill>
                  <a:srgbClr val="212529"/>
                </a:solidFill>
                <a:latin typeface="Calibri"/>
              </a:defRPr>
            </a:pPr>
            <a:r>
              <a:t>Progressive Curriculum</a:t>
            </a:r>
          </a:p>
          <a:p>
            <a:pPr algn="l">
              <a:spcAft>
                <a:spcPts val="0"/>
              </a:spcAft>
              <a:defRPr sz="900" b="0" i="0">
                <a:solidFill>
                  <a:srgbClr val="6C757D"/>
                </a:solidFill>
                <a:latin typeface="Calibri"/>
              </a:defRPr>
            </a:pPr>
            <a:r>
              <a:t>From Foundations to Deep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167128"/>
            <a:ext cx="3118104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2286000"/>
            <a:ext cx="304495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D6A4F"/>
                </a:solidFill>
                <a:latin typeface="Calibri"/>
              </a:rPr>
              <a:t>• Data Foundations: </a:t>
            </a:r>
            <a:r>
              <a:rPr sz="950">
                <a:solidFill>
                  <a:srgbClr val="343A40"/>
                </a:solidFill>
                <a:latin typeface="Calibri"/>
              </a:rPr>
              <a:t>NumPy vectorization, Pandas data wrangling, Matplotlib visualization, and preprocessing workflows.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D6A4F"/>
                </a:solidFill>
                <a:latin typeface="Calibri"/>
              </a:rPr>
              <a:t>• Classical ML: </a:t>
            </a:r>
            <a:r>
              <a:rPr sz="950">
                <a:solidFill>
                  <a:srgbClr val="343A40"/>
                </a:solidFill>
                <a:latin typeface="Calibri"/>
              </a:rPr>
              <a:t>Supervised and unsupervised learning paradigms, bias-variance analysis, L1/L2 regularization, K-fold validation.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D6A4F"/>
                </a:solidFill>
                <a:latin typeface="Calibri"/>
              </a:rPr>
              <a:t>• Deep Learning: </a:t>
            </a:r>
            <a:r>
              <a:rPr sz="950">
                <a:solidFill>
                  <a:srgbClr val="343A40"/>
                </a:solidFill>
                <a:latin typeface="Calibri"/>
              </a:rPr>
              <a:t>TensorFlow graph execution, activations (Sigmoid, ReLU, SoftMax), backpropagation, CNNs, RNNs, and LSTMs.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D6A4F"/>
                </a:solidFill>
                <a:latin typeface="Calibri"/>
              </a:rPr>
              <a:t>• Signal Processing: </a:t>
            </a:r>
            <a:r>
              <a:rPr sz="950">
                <a:solidFill>
                  <a:srgbClr val="343A40"/>
                </a:solidFill>
                <a:latin typeface="Calibri"/>
              </a:rPr>
              <a:t>Savitzky-Golay digital polynomial smoothing for noise reduction while preserving signal morphology.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54696" y="1417320"/>
            <a:ext cx="344728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AF47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19288" y="1581912"/>
            <a:ext cx="384048" cy="384048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1554480"/>
            <a:ext cx="264261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1300" b="1" i="0">
                <a:solidFill>
                  <a:srgbClr val="212529"/>
                </a:solidFill>
                <a:latin typeface="Calibri"/>
              </a:defRPr>
            </a:pPr>
            <a:r>
              <a:t>Applied Capstone Bridge</a:t>
            </a:r>
          </a:p>
          <a:p>
            <a:pPr algn="l">
              <a:spcAft>
                <a:spcPts val="0"/>
              </a:spcAft>
              <a:defRPr sz="900" b="0" i="0">
                <a:solidFill>
                  <a:srgbClr val="6C757D"/>
                </a:solidFill>
                <a:latin typeface="Calibri"/>
              </a:defRPr>
            </a:pPr>
            <a:r>
              <a:t>Training to Real-World 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9288" y="2167128"/>
            <a:ext cx="3118104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5864" y="2286000"/>
            <a:ext cx="3044952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Modern AI: </a:t>
            </a:r>
            <a:r>
              <a:rPr sz="950">
                <a:solidFill>
                  <a:srgbClr val="343A40"/>
                </a:solidFill>
                <a:latin typeface="Calibri"/>
              </a:rPr>
              <a:t>Introductory exposure to NLP, Word2Vec, GloVe, Transformer Encoders, RAG, LangChain, and MCP.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Project Inspiration: </a:t>
            </a:r>
            <a:r>
              <a:rPr sz="950">
                <a:solidFill>
                  <a:srgbClr val="343A40"/>
                </a:solidFill>
                <a:latin typeface="Calibri"/>
              </a:rPr>
              <a:t>Formulated a capstone bridging digital signal processing with contactless cardiovascular vital sensing.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Privacy-First: </a:t>
            </a:r>
            <a:r>
              <a:rPr sz="950">
                <a:solidFill>
                  <a:srgbClr val="343A40"/>
                </a:solidFill>
                <a:latin typeface="Calibri"/>
              </a:rPr>
              <a:t>Designed for 100% on-device edge execution, ensuring no sensitive biometric data leaves the phone.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Honest Exploration: </a:t>
            </a:r>
            <a:r>
              <a:rPr sz="950">
                <a:solidFill>
                  <a:srgbClr val="343A40"/>
                </a:solidFill>
                <a:latin typeface="Calibri"/>
              </a:rPr>
              <a:t>We approach this work as student explorers, acknowledging the boundaries of our prototyping.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Training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3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4864" cy="8412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645920"/>
            <a:ext cx="384048" cy="384048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527048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Python &amp; Scientific Data Foundations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Build strong fluency in Python for data science, vectorized computation (NumPy), and exploratory data manipulation (Pandas, Matplotlib).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68296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368296"/>
            <a:ext cx="54864" cy="8412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2596896"/>
            <a:ext cx="384048" cy="38404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478024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Machine Learning &amp; Validation Rigor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Understand supervised/unsupervised algorithms, bias-variance tradeoffs, L1/L2 regularization, and robust K-Fold cross-validation with precision/recall/F1.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19272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19272"/>
            <a:ext cx="54864" cy="84124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3547872"/>
            <a:ext cx="384048" cy="384048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29000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Deep Learning &amp; Neural Architectures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Master neural network mechanics (activations, backpropagation) and implement CNNs, RNNs, LSTMs, and Self-Attention layers in TensorFlow.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70248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270248"/>
            <a:ext cx="54864" cy="8412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4498848"/>
            <a:ext cx="384048" cy="384048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79976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Signal Processing &amp; Vector Operations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Implement digital smoothing techniques such as Savitzky-Golay filtering for noise reduction and learn vector space metrics (Cosine Similarity).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21224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221224"/>
            <a:ext cx="54864" cy="8412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" y="5449824"/>
            <a:ext cx="384048" cy="384048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30952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NLP, Transformers &amp; Agentic AI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Gain introductory exposure to Word2Vec/GloVe, Transformer encoders, RAG architectures, LangChain, Agentic AI tools, and Model Context Protocol.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Training Modules / Topics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4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084831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2084831" cy="45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45336"/>
            <a:ext cx="1865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00" b="1" i="0">
                <a:solidFill>
                  <a:srgbClr val="1B4332"/>
                </a:solidFill>
                <a:latin typeface="Calibri"/>
              </a:defRPr>
            </a:pPr>
            <a:r>
              <a:t>MODULE 1</a:t>
            </a:r>
          </a:p>
          <a:p>
            <a:pPr algn="l">
              <a:spcAft>
                <a:spcPts val="0"/>
              </a:spcAft>
              <a:defRPr sz="1100" b="1" i="0">
                <a:solidFill>
                  <a:srgbClr val="212529"/>
                </a:solidFill>
                <a:latin typeface="Calibri"/>
              </a:defRPr>
            </a:pPr>
            <a:r>
              <a:t>Python &amp;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2057400"/>
            <a:ext cx="1865375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148840"/>
            <a:ext cx="186537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Python fundamentals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NumPy vectorization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Pandas data wrangling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Matplotlib visualization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Data preprocessing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Feature scaling &amp; norms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19" y="1417320"/>
            <a:ext cx="2084831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19" y="1417320"/>
            <a:ext cx="2084831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7" y="1545336"/>
            <a:ext cx="1865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00" b="1" i="0">
                <a:solidFill>
                  <a:srgbClr val="2D6A4F"/>
                </a:solidFill>
                <a:latin typeface="Calibri"/>
              </a:defRPr>
            </a:pPr>
            <a:r>
              <a:t>MODULE 2</a:t>
            </a:r>
          </a:p>
          <a:p>
            <a:pPr algn="l">
              <a:spcAft>
                <a:spcPts val="0"/>
              </a:spcAft>
              <a:defRPr sz="1100" b="1" i="0">
                <a:solidFill>
                  <a:srgbClr val="212529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8647" y="2057400"/>
            <a:ext cx="1865375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7" y="2148840"/>
            <a:ext cx="186537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Supervised &amp; Unsupervised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Semi-supervised &amp; RL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Linear &amp; Polynomial Reg.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Logistic Regression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Bias-Variance tradeoff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L1/L2 Regularization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K-Fold cross-validation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Accuracy, Prec, Recall,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78" y="1417320"/>
            <a:ext cx="2084831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78" y="1417320"/>
            <a:ext cx="2084831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6" y="1545336"/>
            <a:ext cx="1865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00" b="1" i="0">
                <a:solidFill>
                  <a:srgbClr val="40916C"/>
                </a:solidFill>
                <a:latin typeface="Calibri"/>
              </a:defRPr>
            </a:pPr>
            <a:r>
              <a:t>MODULE 3</a:t>
            </a:r>
          </a:p>
          <a:p>
            <a:pPr algn="l">
              <a:spcAft>
                <a:spcPts val="0"/>
              </a:spcAft>
              <a:defRPr sz="1100" b="1" i="0">
                <a:solidFill>
                  <a:srgbClr val="212529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6" y="2057400"/>
            <a:ext cx="1865375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6" y="2148840"/>
            <a:ext cx="186537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TensorFlow ecosystem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Computational graphs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Backpropagation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Sigmoid, ReLU, SoftMax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Conv, Pool, Dense layers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CNN architectures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RNN &amp; LSTM models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Self-Attention primitives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37" y="1417320"/>
            <a:ext cx="2084831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AF47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37" y="1417320"/>
            <a:ext cx="2084831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5" y="1545336"/>
            <a:ext cx="1865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00" b="1" i="0">
                <a:solidFill>
                  <a:srgbClr val="B8860B"/>
                </a:solidFill>
                <a:latin typeface="Calibri"/>
              </a:defRPr>
            </a:pPr>
            <a:r>
              <a:t>MODULE 4</a:t>
            </a:r>
          </a:p>
          <a:p>
            <a:pPr algn="l">
              <a:spcAft>
                <a:spcPts val="0"/>
              </a:spcAft>
              <a:defRPr sz="1100" b="1" i="0">
                <a:solidFill>
                  <a:srgbClr val="212529"/>
                </a:solidFill>
                <a:latin typeface="Calibri"/>
              </a:defRPr>
            </a:pPr>
            <a:r>
              <a:t>Signal &amp; NLP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87765" y="2057400"/>
            <a:ext cx="1865375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5" y="2148840"/>
            <a:ext cx="186537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Savitzky-Golay filter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NLP with NLTK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Word2Vec embeddings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GloVe representations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Contextual embeddings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Sequence encoders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Cosine Similarity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596" y="1417320"/>
            <a:ext cx="2084831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AF47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72596" y="1417320"/>
            <a:ext cx="2084831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82324" y="1545336"/>
            <a:ext cx="1865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  <a:defRPr sz="800" b="1" i="0">
                <a:solidFill>
                  <a:srgbClr val="B8860B"/>
                </a:solidFill>
                <a:latin typeface="Calibri"/>
              </a:defRPr>
            </a:pPr>
            <a:r>
              <a:t>MODULE 5</a:t>
            </a:r>
          </a:p>
          <a:p>
            <a:pPr algn="l">
              <a:spcAft>
                <a:spcPts val="0"/>
              </a:spcAft>
              <a:defRPr sz="1100" b="1" i="0">
                <a:solidFill>
                  <a:srgbClr val="212529"/>
                </a:solidFill>
                <a:latin typeface="Calibri"/>
              </a:defRPr>
            </a:pPr>
            <a:r>
              <a:t>GenAI &amp; Agents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82324" y="2057400"/>
            <a:ext cx="1865375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82324" y="2148840"/>
            <a:ext cx="186537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Transformer architecture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Tokens &amp; Tokenization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Large Language Models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Fine-tuning open models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RAG architecture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LangChain orchestration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Agentic AI &amp; tool calling</a:t>
            </a:r>
          </a:p>
          <a:p>
            <a:pPr>
              <a:spcAft>
                <a:spcPts val="400"/>
              </a:spcAft>
              <a:defRPr sz="900">
                <a:solidFill>
                  <a:srgbClr val="343A40"/>
                </a:solidFill>
                <a:latin typeface="Calibri"/>
              </a:defRPr>
            </a:pPr>
            <a:r>
              <a:t>•  MCP (Model Context Protocol)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Key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5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3675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4864" cy="2103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1600200"/>
            <a:ext cx="347472" cy="347472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00200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1B4332"/>
                </a:solidFill>
                <a:latin typeface="Calibri"/>
              </a:defRPr>
            </a:pPr>
            <a:r>
              <a:t>PREPROCESSING &amp;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011680"/>
            <a:ext cx="496519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343A40"/>
                </a:solidFill>
                <a:latin typeface="Calibri"/>
              </a:defRPr>
            </a:pPr>
            <a:r>
              <a:t>Real-world signals carry severe baseline wander and sensor noise. Standardizing feature distributions, robust encoding, and using K-fold cross-validation are essential before training any neural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417320"/>
            <a:ext cx="53675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417320"/>
            <a:ext cx="54864" cy="21031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1600200"/>
            <a:ext cx="347472" cy="34747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1600200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2D6A4F"/>
                </a:solidFill>
                <a:latin typeface="Calibri"/>
              </a:defRPr>
            </a:pPr>
            <a:r>
              <a:t>DIGITAL SIGNAL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011680"/>
            <a:ext cx="496519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343A40"/>
                </a:solidFill>
                <a:latin typeface="Calibri"/>
              </a:defRPr>
            </a:pPr>
            <a:r>
              <a:t>Learning the Savitzky-Golay filter demonstrated how local polynomial regression effectively removes high-frequency noise while preserving vital systolic/diastolic peak extrema in physiological signals.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85032"/>
            <a:ext cx="53675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685032"/>
            <a:ext cx="54864" cy="21031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5528" y="3867912"/>
            <a:ext cx="347472" cy="347472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867912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40916C"/>
                </a:solidFill>
                <a:latin typeface="Calibri"/>
              </a:defRPr>
            </a:pPr>
            <a:r>
              <a:t>CONVOLUTIONAL + SEQUENTIAL SYNERGY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79392"/>
            <a:ext cx="496519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343A40"/>
                </a:solidFill>
                <a:latin typeface="Calibri"/>
              </a:defRPr>
            </a:pPr>
            <a:r>
              <a:t>Combining 1D convolutions (for localized morphological features) with recurrent and self-attention layers (for temporal cardiac periodicity) provides a powerful time-series regression framework.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685032"/>
            <a:ext cx="53675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3685032"/>
            <a:ext cx="54864" cy="21031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45936" y="3867912"/>
            <a:ext cx="347472" cy="347472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3867912"/>
            <a:ext cx="4453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B8860B"/>
                </a:solidFill>
                <a:latin typeface="Calibri"/>
              </a:defRPr>
            </a:pPr>
            <a:r>
              <a:t>CAPSTONE INSPIRATION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279392"/>
            <a:ext cx="496519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343A40"/>
                </a:solidFill>
                <a:latin typeface="Calibri"/>
              </a:defRPr>
            </a:pPr>
            <a:r>
              <a:t>Guided by our coursework in Python, signal processing, and deep neural models, we formulated our capstone: extracting optical pulse signals from smartphone cameras for cuffless blood pressure estimation.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Proposed Project Title &amp; its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6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36752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5001768" cy="685800"/>
          </a:xfrm>
          <a:prstGeom prst="roundRect">
            <a:avLst/>
          </a:prstGeom>
          <a:solidFill>
            <a:srgbClr val="E8F6EF"/>
          </a:solidFill>
          <a:ln w="9525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4727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1B4332"/>
                </a:solidFill>
                <a:latin typeface="Calibri"/>
              </a:defRPr>
            </a:pPr>
            <a:r>
              <a:t>Mobile Remote Photoplethysmography (rPPG)</a:t>
            </a:r>
            <a:br/>
            <a:r>
              <a:t>to Cuffless Blood Pressure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5001768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7240" y="2377440"/>
            <a:ext cx="1645920" cy="256032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CLINICAL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5001768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Global Challenge: </a:t>
            </a:r>
            <a:r>
              <a:rPr sz="950">
                <a:solidFill>
                  <a:srgbClr val="343A40"/>
                </a:solidFill>
                <a:latin typeface="Calibri"/>
              </a:rPr>
              <a:t>Hypertension impacts over 1.28 billion adults globally as a primary asymptomatic cardiovascular risk factor.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Cuff Limitations: </a:t>
            </a:r>
            <a:r>
              <a:rPr sz="950">
                <a:solidFill>
                  <a:srgbClr val="343A40"/>
                </a:solidFill>
                <a:latin typeface="Calibri"/>
              </a:rPr>
              <a:t>Traditional inflatable cuffs are intermittent, uncomfortable, and unsuitable for continuous monitoring or sleep studies.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White-Coat Effect: </a:t>
            </a:r>
            <a:r>
              <a:rPr sz="950">
                <a:solidFill>
                  <a:srgbClr val="343A40"/>
                </a:solidFill>
                <a:latin typeface="Calibri"/>
              </a:rPr>
              <a:t>In-clinic measurements induce acute stress, frequently producing elevated false-positive readings.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Contactless Concept: </a:t>
            </a:r>
            <a:r>
              <a:rPr sz="950">
                <a:solidFill>
                  <a:srgbClr val="343A40"/>
                </a:solidFill>
                <a:latin typeface="Calibri"/>
              </a:rPr>
              <a:t>Smartphone RGB cameras can detect subtle facial color variations caused by blood volume pulses, enabling non-invasive continuous estimation.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417320"/>
            <a:ext cx="5367528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228600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HEMODYNAMIC MODEL</a:t>
            </a:r>
          </a:p>
        </p:txBody>
      </p:sp>
      <p:pic>
        <p:nvPicPr>
          <p:cNvPr id="17" name="Picture 16" descr="fig_windkessel_d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711984"/>
            <a:ext cx="5001768" cy="18912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27648" y="5486400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850" b="0" i="1">
                <a:solidFill>
                  <a:srgbClr val="6C757D"/>
                </a:solidFill>
                <a:latin typeface="Calibri"/>
              </a:defRPr>
            </a:pPr>
            <a:r>
              <a:t>Transcutaneous optical absorption &amp; hemodynamic waveform dynamics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Objectives of the Proposed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7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4864" cy="8412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645920"/>
            <a:ext cx="384048" cy="384048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527048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Optical Pulse Extraction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Capture facial video via smartphone camera and extract rPPG pulse waveforms using ROI localization and POS chrominance projection.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68296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368296"/>
            <a:ext cx="54864" cy="8412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2596896"/>
            <a:ext cx="384048" cy="38404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478024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Physiological Signal Filtering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Apply bandpass filtering and Savitzky-Golay polynomial smoothing to isolate cardiac harmonics in the 0.75 to 2.5 Hz band.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19272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319272"/>
            <a:ext cx="54864" cy="84124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3547872"/>
            <a:ext cx="384048" cy="384048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29000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Deep Neural Sequence Regression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Develop a hybrid architecture (1D-CNN + BiGRU + Self-Attention) in TensorFlow to estimate SBP and DBP from pulse waveforms.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70248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270248"/>
            <a:ext cx="54864" cy="8412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4498848"/>
            <a:ext cx="384048" cy="384048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79976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Personal Calibration Study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Investigate single-point baseline calibration to anchor individual vascular tone and arterial stiffness variations.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21224"/>
            <a:ext cx="1090879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221224"/>
            <a:ext cx="54864" cy="8412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" y="5449824"/>
            <a:ext cx="384048" cy="384048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30952"/>
            <a:ext cx="99943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Edge Mobile Inference</a:t>
            </a:r>
          </a:p>
          <a:p>
            <a:pPr algn="l">
              <a:spcAft>
                <a:spcPts val="0"/>
              </a:spcAft>
              <a:defRPr sz="950" b="0" i="0">
                <a:solidFill>
                  <a:srgbClr val="343A40"/>
                </a:solidFill>
                <a:latin typeface="Calibri"/>
              </a:defRPr>
            </a:pPr>
            <a:r>
              <a:t>Assess on-device inference feasibility for privacy-preserving mobile execution using lightweight quantized models.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Methodology / Approach of the Proposed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8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36752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228600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5-STAGE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01768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Stage 0  |  Sensor Lock: </a:t>
            </a:r>
            <a:r>
              <a:rPr sz="950">
                <a:solidFill>
                  <a:srgbClr val="343A40"/>
                </a:solidFill>
                <a:latin typeface="Calibri"/>
              </a:rPr>
              <a:t>Camera2 API explicit sensor lock (ISO gain, fixed exposure) to eliminate auto-exposure oscillations.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Stage 1  |  Facial ROI Tracking: </a:t>
            </a:r>
            <a:r>
              <a:rPr sz="950">
                <a:solidFill>
                  <a:srgbClr val="343A40"/>
                </a:solidFill>
                <a:latin typeface="Calibri"/>
              </a:rPr>
              <a:t>Facial landmark tracking to dynamically isolate perfused forehead skin pixels.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Stage 2  |  Chrominance Projection: </a:t>
            </a:r>
            <a:r>
              <a:rPr sz="950">
                <a:solidFill>
                  <a:srgbClr val="343A40"/>
                </a:solidFill>
                <a:latin typeface="Calibri"/>
              </a:rPr>
              <a:t>Plane-Orthogonal-to-Skin (POS) color subspace projection to cancel specular reflections (8.9 dB SNR).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Stage 3  |  DSP Filtering: </a:t>
            </a:r>
            <a:r>
              <a:rPr sz="950">
                <a:solidFill>
                  <a:srgbClr val="343A40"/>
                </a:solidFill>
                <a:latin typeface="Calibri"/>
              </a:rPr>
              <a:t>Resample to 125 Hz via PCHIP, Butterworth bandpass (0.75 to 2.5 Hz), Savitzky-Golay polynomial smoothing.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Stage 4  |  Deep Regression: </a:t>
            </a:r>
            <a:r>
              <a:rPr sz="950">
                <a:solidFill>
                  <a:srgbClr val="343A40"/>
                </a:solidFill>
                <a:latin typeface="Calibri"/>
              </a:rPr>
              <a:t>Sequence-to-value regression model extracting morphological pulse features for SBP/DBP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17320"/>
            <a:ext cx="5367528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228600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PIPELINE DIAGRAM</a:t>
            </a:r>
          </a:p>
        </p:txBody>
      </p:sp>
      <p:pic>
        <p:nvPicPr>
          <p:cNvPr id="14" name="Picture 13" descr="fig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670928"/>
            <a:ext cx="5001768" cy="20190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7648" y="5486400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850" b="0" i="1">
                <a:solidFill>
                  <a:srgbClr val="6C757D"/>
                </a:solidFill>
                <a:latin typeface="Calibri"/>
              </a:defRPr>
            </a:pPr>
            <a:r>
              <a:t>End-to-end smartphone ingestion and deep sequence inference workflow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Proposed Project Work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367528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25603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01768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Input Tensor: </a:t>
            </a:r>
            <a:r>
              <a:rPr sz="950">
                <a:solidFill>
                  <a:srgbClr val="343A40"/>
                </a:solidFill>
                <a:latin typeface="Calibri"/>
              </a:rPr>
              <a:t>1 x 1250 standardized BVP pulse samples (10-second window at 125 Hz) with demographic metadata.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Multi-Scale 1D-ResNet: </a:t>
            </a:r>
            <a:r>
              <a:rPr sz="950">
                <a:solidFill>
                  <a:srgbClr val="343A40"/>
                </a:solidFill>
                <a:latin typeface="Calibri"/>
              </a:rPr>
              <a:t>Dual branches: Kernel=5 (systolic peaks) and Kernel=11 dilated (global waveform rhythms).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Temporal Modeling: </a:t>
            </a:r>
            <a:r>
              <a:rPr sz="950">
                <a:solidFill>
                  <a:srgbClr val="343A40"/>
                </a:solidFill>
                <a:latin typeface="Calibri"/>
              </a:rPr>
              <a:t>2-layer Bidirectional GRU (hidden=64) capturing cardiac phase periodicity across heartbeats.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Self-Attention: </a:t>
            </a:r>
            <a:r>
              <a:rPr sz="950">
                <a:solidFill>
                  <a:srgbClr val="343A40"/>
                </a:solidFill>
                <a:latin typeface="Calibri"/>
              </a:rPr>
              <a:t>4-head temporal attention weighting high-SNR cardiac cycles over motion-affected cycles.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Decoupled Heads: </a:t>
            </a:r>
            <a:r>
              <a:rPr sz="950">
                <a:solidFill>
                  <a:srgbClr val="343A40"/>
                </a:solidFill>
                <a:latin typeface="Calibri"/>
              </a:rPr>
              <a:t>Separate dense output heads for SBP (stroke volume) and DBP (peripheral resistance).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17320"/>
            <a:ext cx="5367528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model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821747"/>
            <a:ext cx="5093208" cy="230010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44768" y="4636008"/>
            <a:ext cx="5367528" cy="1490472"/>
          </a:xfrm>
          <a:prstGeom prst="roundRect">
            <a:avLst/>
          </a:prstGeom>
          <a:solidFill>
            <a:srgbClr val="FDF5E1"/>
          </a:solidFill>
          <a:ln w="19050">
            <a:solidFill>
              <a:srgbClr val="DAAF47"/>
            </a:solidFill>
          </a:ln>
          <a:effectLst>
            <a:outerShdw blurRad="50000" dist="25000" dir="5400000" rotWithShape="0">
              <a:srgbClr val="B8860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4773168"/>
            <a:ext cx="4965192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B8860B"/>
                </a:solidFill>
                <a:latin typeface="Calibri"/>
              </a:defRPr>
            </a:pPr>
            <a:r>
              <a:t>LIVE DEMONSTRATION</a:t>
            </a:r>
          </a:p>
          <a:p>
            <a:pPr algn="l">
              <a:spcAft>
                <a:spcPts val="400"/>
              </a:spcAft>
              <a:defRPr sz="1200" b="1" i="0">
                <a:solidFill>
                  <a:srgbClr val="212529"/>
                </a:solidFill>
                <a:latin typeface="Calibri"/>
              </a:defRPr>
            </a:pPr>
            <a:r>
              <a:t>Switching to smartphone for live prototype demo</a:t>
            </a:r>
          </a:p>
          <a:p>
            <a:pPr algn="l">
              <a:spcAft>
                <a:spcPts val="0"/>
              </a:spcAft>
              <a:defRPr sz="900" b="0" i="0">
                <a:solidFill>
                  <a:srgbClr val="343A40"/>
                </a:solidFill>
                <a:latin typeface="Calibri"/>
              </a:defRPr>
            </a:pPr>
            <a:r>
              <a:t>Demonstrating real-time Camera2 video ingestion, forehead ROI tracking, Savitzky-Golay signal smoothing, and on-device blood pressure inference.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Expected Outcomes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36752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4864" cy="111556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270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4332"/>
                </a:solidFill>
                <a:latin typeface="Calibri"/>
              </a:rPr>
              <a:t>10.12 / 5.91</a:t>
            </a:r>
            <a:r>
              <a:rPr sz="1000">
                <a:solidFill>
                  <a:srgbClr val="6C757D"/>
                </a:solidFill>
                <a:latin typeface="Calibri"/>
              </a:rPr>
              <a:t>  mmHg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47672"/>
            <a:ext cx="50017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212529"/>
                </a:solidFill>
                <a:latin typeface="Calibri"/>
              </a:defRPr>
            </a:pPr>
            <a:r>
              <a:t>Exploratory Subject MAE</a:t>
            </a:r>
          </a:p>
          <a:p>
            <a:pPr algn="l">
              <a:spcAft>
                <a:spcPts val="0"/>
              </a:spcAft>
              <a:defRPr sz="850" b="0" i="0">
                <a:solidFill>
                  <a:srgbClr val="6C757D"/>
                </a:solidFill>
                <a:latin typeface="Calibri"/>
              </a:defRPr>
            </a:pPr>
            <a:r>
              <a:t>Subject-level test error (SBP / DBP) on synchronized evaluation partitions.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42616"/>
            <a:ext cx="536752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642616"/>
            <a:ext cx="54864" cy="11155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5234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D6A4F"/>
                </a:solidFill>
                <a:latin typeface="Calibri"/>
              </a:rPr>
              <a:t>6.70</a:t>
            </a:r>
            <a:r>
              <a:rPr sz="1000">
                <a:solidFill>
                  <a:srgbClr val="6C757D"/>
                </a:solidFill>
                <a:latin typeface="Calibri"/>
              </a:rPr>
              <a:t>  mmHg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72968"/>
            <a:ext cx="50017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212529"/>
                </a:solidFill>
                <a:latin typeface="Calibri"/>
              </a:defRPr>
            </a:pPr>
            <a:r>
              <a:t>Model Progression</a:t>
            </a:r>
          </a:p>
          <a:p>
            <a:pPr algn="l">
              <a:spcAft>
                <a:spcPts val="0"/>
              </a:spcAft>
              <a:defRPr sz="850" b="0" i="0">
                <a:solidFill>
                  <a:srgbClr val="6C757D"/>
                </a:solidFill>
                <a:latin typeface="Calibri"/>
              </a:defRPr>
            </a:pPr>
            <a:r>
              <a:t>SBP MAE improved by 6.70 mmHg over baseline (MODEL-01: 16.82 to MODEL-06: 10.12).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67912"/>
            <a:ext cx="536752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867912"/>
            <a:ext cx="54864" cy="11155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B8860B"/>
                </a:solidFill>
                <a:latin typeface="Calibri"/>
              </a:rPr>
              <a:t>8.9 dB</a:t>
            </a:r>
            <a:r>
              <a:rPr sz="1000">
                <a:solidFill>
                  <a:srgbClr val="6C757D"/>
                </a:solidFill>
                <a:latin typeface="Calibri"/>
              </a:rPr>
              <a:t>  SNR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98264"/>
            <a:ext cx="50017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212529"/>
                </a:solidFill>
                <a:latin typeface="Calibri"/>
              </a:defRPr>
            </a:pPr>
            <a:r>
              <a:t>POS Chrominance Projection</a:t>
            </a:r>
          </a:p>
          <a:p>
            <a:pPr algn="l">
              <a:spcAft>
                <a:spcPts val="0"/>
              </a:spcAft>
              <a:defRPr sz="850" b="0" i="0">
                <a:solidFill>
                  <a:srgbClr val="6C757D"/>
                </a:solidFill>
                <a:latin typeface="Calibri"/>
              </a:defRPr>
            </a:pPr>
            <a:r>
              <a:t>Orthogonal skin-plane projection placing specular reflection in the null space.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093208"/>
            <a:ext cx="536752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093208"/>
            <a:ext cx="54864" cy="111556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0293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40916C"/>
                </a:solidFill>
                <a:latin typeface="Calibri"/>
              </a:rPr>
              <a:t>~120 ms</a:t>
            </a:r>
            <a:r>
              <a:rPr sz="1000">
                <a:solidFill>
                  <a:srgbClr val="6C757D"/>
                </a:solidFill>
                <a:latin typeface="Calibri"/>
              </a:rPr>
              <a:t> 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50017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212529"/>
                </a:solidFill>
                <a:latin typeface="Calibri"/>
              </a:defRPr>
            </a:pPr>
            <a:r>
              <a:t>Edge Mobile Execution</a:t>
            </a:r>
          </a:p>
          <a:p>
            <a:pPr algn="l">
              <a:spcAft>
                <a:spcPts val="0"/>
              </a:spcAft>
              <a:defRPr sz="850" b="0" i="0">
                <a:solidFill>
                  <a:srgbClr val="6C757D"/>
                </a:solidFill>
                <a:latin typeface="Calibri"/>
              </a:defRPr>
            </a:pPr>
            <a:r>
              <a:t>Zero dropped frames with asynchronous offline batching on Android CPU.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417320"/>
            <a:ext cx="5367528" cy="4709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554480"/>
            <a:ext cx="25603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BENCHMARK COMPARISON</a:t>
            </a:r>
          </a:p>
        </p:txBody>
      </p:sp>
      <p:pic>
        <p:nvPicPr>
          <p:cNvPr id="27" name="Picture 26" descr="fig_extractor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820434"/>
            <a:ext cx="5001768" cy="190293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27648" y="5669280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850" b="0" i="1">
                <a:solidFill>
                  <a:srgbClr val="6C757D"/>
                </a:solidFill>
                <a:latin typeface="Calibri"/>
              </a:defRPr>
            </a:pPr>
            <a:r>
              <a:t>rPPG extractor SNR and model error (MAE) benchmark comparison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0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18872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B4332"/>
                </a:solidFill>
                <a:latin typeface="Calibri"/>
              </a:defRPr>
            </a:pPr>
            <a:r>
              <a:t>Conclusion Remarks &amp; Future Scope of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2286000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78992"/>
            <a:ext cx="8668512" cy="9525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800" b="0" i="0">
                <a:solidFill>
                  <a:srgbClr val="ADB5BD"/>
                </a:solidFill>
                <a:latin typeface="Calibri"/>
              </a:defRPr>
            </a:pPr>
            <a:r>
              <a:t>11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36752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2011680" cy="25603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CONCLUDING REMARKS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01768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Comprehensive Foundation: </a:t>
            </a:r>
            <a:r>
              <a:rPr sz="950">
                <a:solidFill>
                  <a:srgbClr val="343A40"/>
                </a:solidFill>
                <a:latin typeface="Calibri"/>
              </a:rPr>
              <a:t>The 6-week training at IIIT-NR provided a strong, multi-faceted grounding across 45 AI topics under expert mentorship.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Interdisciplinary Application: </a:t>
            </a:r>
            <a:r>
              <a:rPr sz="950">
                <a:solidFill>
                  <a:srgbClr val="343A40"/>
                </a:solidFill>
                <a:latin typeface="Calibri"/>
              </a:rPr>
              <a:t>We applied digital signal filtering (Savitzky-Golay) and deep sequence models (CNN-BiGRU-Attention) to optical pulse waveforms.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Feasibility Demonstrated: </a:t>
            </a:r>
            <a:r>
              <a:rPr sz="950">
                <a:solidFill>
                  <a:srgbClr val="343A40"/>
                </a:solidFill>
                <a:latin typeface="Calibri"/>
              </a:rPr>
              <a:t>Exploratory results confirm that standard smartphone cameras can capture meaningful cardiovascular signals.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B4332"/>
                </a:solidFill>
                <a:latin typeface="Calibri"/>
              </a:rPr>
              <a:t>• Privacy by Design: </a:t>
            </a:r>
            <a:r>
              <a:rPr sz="950">
                <a:solidFill>
                  <a:srgbClr val="343A40"/>
                </a:solidFill>
                <a:latin typeface="Calibri"/>
              </a:rPr>
              <a:t>On-device edge inference ensures that no sensitive biometric video data leaves the user's phone.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17320"/>
            <a:ext cx="536752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AF47"/>
            </a:solidFill>
          </a:ln>
          <a:effectLst>
            <a:outerShdw blurRad="50000" dist="2500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2011680" cy="256032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12700" bIns="127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920240"/>
            <a:ext cx="4965192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Diverse Demographics: </a:t>
            </a:r>
            <a:r>
              <a:rPr sz="950">
                <a:solidFill>
                  <a:srgbClr val="343A40"/>
                </a:solidFill>
                <a:latin typeface="Calibri"/>
              </a:rPr>
              <a:t>Evaluate across varied skin tones (Fitzpatrick I to VI) and ambient lighting conditions.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NPU Acceleration: </a:t>
            </a:r>
            <a:r>
              <a:rPr sz="950">
                <a:solidFill>
                  <a:srgbClr val="343A40"/>
                </a:solidFill>
                <a:latin typeface="Calibri"/>
              </a:rPr>
              <a:t>Integrate Android NNAPI and INT8 quantization for sub-50ms real-time continuous inference.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Multi-Modal Sensing: </a:t>
            </a:r>
            <a:r>
              <a:rPr sz="950">
                <a:solidFill>
                  <a:srgbClr val="343A40"/>
                </a:solidFill>
                <a:latin typeface="Calibri"/>
              </a:rPr>
              <a:t>Combine front-camera facial rPPG with rear-camera fingertip PPG for optical Pulse Transit Time.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B8860B"/>
                </a:solidFill>
                <a:latin typeface="Calibri"/>
              </a:rPr>
              <a:t>• Clinical Deployment: </a:t>
            </a:r>
            <a:r>
              <a:rPr sz="950">
                <a:solidFill>
                  <a:srgbClr val="343A40"/>
                </a:solidFill>
                <a:latin typeface="Calibri"/>
              </a:rPr>
              <a:t>Deploy edge inference on smart mirrors and digital healthcare kiosks for community screening.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800600"/>
            <a:ext cx="10908792" cy="1097280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10328"/>
            <a:ext cx="1054303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1B4332"/>
                </a:solidFill>
                <a:latin typeface="Calibri"/>
              </a:defRPr>
            </a:pPr>
            <a:r>
              <a:t>Heartfelt gratitude to Dr. Anurag Singh (IIIT-NR), Prof. Aparna Pandey (BIT Raipur),</a:t>
            </a:r>
            <a:br/>
            <a:r>
              <a:t>all faculty members, and the evaluation committee for their invaluable guidance.</a:t>
            </a:r>
          </a:p>
          <a:p>
            <a:pPr algn="ctr">
              <a:spcAft>
                <a:spcPts val="0"/>
              </a:spcAft>
              <a:defRPr sz="1200" b="1" i="0">
                <a:solidFill>
                  <a:srgbClr val="B8860B"/>
                </a:solidFill>
                <a:latin typeface="Calibri"/>
              </a:defRPr>
            </a:pPr>
            <a:r>
              <a:t>Thank You  •  Open for Questions &amp; Feedback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